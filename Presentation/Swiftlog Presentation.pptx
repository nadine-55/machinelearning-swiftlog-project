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6840BB-9707-49C1-B7CB-2BA6EBF56FC2}">
          <p14:sldIdLst>
            <p14:sldId id="256"/>
          </p14:sldIdLst>
        </p14:section>
        <p14:section name="Context" id="{375AFD0B-3F01-4761-949F-DD87B2740FFC}">
          <p14:sldIdLst>
            <p14:sldId id="257"/>
            <p14:sldId id="258"/>
          </p14:sldIdLst>
        </p14:section>
        <p14:section name="Method" id="{38195F11-6BA2-B273-21C6-B640A5B96A08}">
          <p14:sldIdLst>
            <p14:sldId id="259"/>
            <p14:sldId id="260"/>
          </p14:sldIdLst>
        </p14:section>
        <p14:section name="Results" id="{AF687009-E408-F7DE-5E93-6EB2F662BB13}">
          <p14:sldIdLst>
            <p14:sldId id="261"/>
            <p14:sldId id="262"/>
            <p14:sldId id="263"/>
            <p14:sldId id="264"/>
          </p14:sldIdLst>
        </p14:section>
        <p14:section name="Findings" id="{373E2A58-A24F-E7C7-7E2F-277D192073F3}">
          <p14:sldIdLst>
            <p14:sldId id="265"/>
          </p14:sldIdLst>
        </p14:section>
        <p14:section name="Recommendations" id="{A734D1FE-5FEC-4A51-C24C-B6789D864584}">
          <p14:sldIdLst>
            <p14:sldId id="266"/>
            <p14:sldId id="267"/>
            <p14:sldId id="268"/>
          </p14:sldIdLst>
        </p14:section>
        <p14:section name="Deployment" id="{22BD4E32-67BB-FE8A-FAB7-19E59B307215}">
          <p14:sldIdLst>
            <p14:sldId id="269"/>
          </p14:sldIdLst>
        </p14:section>
        <p14:section name="Close" id="{AB6449BF-FF86-B6B6-37F4-2F5FB50B133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3"/>
                </a:solidFill>
                <a:latin typeface="+mn-lt"/>
              </a:defRPr>
            </a:pPr>
            <a:r>
              <a:rPr lang="en-US" sz="1400" b="0" i="0" u="none" strike="noStrike">
                <a:solidFill>
                  <a:srgbClr val="0B1F33"/>
                </a:solidFill>
                <a:latin typeface="+mn-lt"/>
              </a:rPr>
              <a:t>Strongest correlation with the target (absolute value)</a:t>
            </a:r>
          </a:p>
        </c:rich>
      </c:tx>
      <c:overlay val="0"/>
    </c:title>
    <c:autoTitleDeleted val="0"/>
    <c:plotArea>
      <c:layout/>
      <c:barChart>
        <c:barDir val="bar"/>
        <c:grouping val="clustered"/>
        <c:varyColors val="0"/>
        <c:ser>
          <c:idx val="0"/>
          <c:order val="0"/>
          <c:tx>
            <c:strRef>
              <c:f>Sheet1!$B$1</c:f>
              <c:strCache>
                <c:ptCount val="1"/>
                <c:pt idx="0">
                  <c:v>Strongest legitimate correlation</c:v>
                </c:pt>
              </c:strCache>
            </c:strRef>
          </c:tx>
          <c:spPr>
            <a:solidFill>
              <a:srgbClr val="2A78D6"/>
            </a:solidFill>
            <a:effectLst/>
          </c:spPr>
          <c:invertIfNegative val="0"/>
          <c:dLbls>
            <c:numFmt formatCode="0.000" sourceLinked="0"/>
            <c:spPr>
              <a:noFill/>
              <a:ln>
                <a:noFill/>
              </a:ln>
              <a:effectLst/>
            </c:spPr>
            <c:txPr>
              <a:bodyPr/>
              <a:lstStyle/>
              <a:p>
                <a:pPr>
                  <a:defRPr sz="130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Delivery delay</c:v>
                </c:pt>
                <c:pt idx="1">
                  <c:v>Demand</c:v>
                </c:pt>
                <c:pt idx="2">
                  <c:v>Customer value</c:v>
                </c:pt>
                <c:pt idx="3">
                  <c:v>Warehouse</c:v>
                </c:pt>
              </c:strCache>
            </c:strRef>
          </c:cat>
          <c:val>
            <c:numRef>
              <c:f>Sheet1!$B$2:$B$5</c:f>
              <c:numCache>
                <c:formatCode>General</c:formatCode>
                <c:ptCount val="4"/>
                <c:pt idx="0">
                  <c:v>2.5000000000000001E-2</c:v>
                </c:pt>
                <c:pt idx="1">
                  <c:v>4.5999999999999999E-2</c:v>
                </c:pt>
                <c:pt idx="2">
                  <c:v>0.11</c:v>
                </c:pt>
                <c:pt idx="3">
                  <c:v>0.19800000000000001</c:v>
                </c:pt>
              </c:numCache>
            </c:numRef>
          </c:val>
          <c:extLst>
            <c:ext xmlns:c16="http://schemas.microsoft.com/office/drawing/2014/chart" uri="{C3380CC4-5D6E-409C-BE32-E72D297353CC}">
              <c16:uniqueId val="{00000000-E067-4CFB-9B49-1A2CD6FD42D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t"/>
        <c:majorGridlines>
          <c:spPr>
            <a:ln w="6350" cap="flat">
              <a:solidFill>
                <a:srgbClr val="E1E0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4119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we built four models for SwiftLog and tested them properly. The honest answer is that none of them beats a simple baseline yet, and the data analysis still gives SwiftLog clear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come straight from the original CSVs, no modelling. 63.7% of 5,000 shipments were delayed by 3+ days. A third of orders are cancelled and a third are Pending, most of them stale. Stock cover is about 150 months, which means overstocking, not shortage.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We swapped supplier reliability for delivery delay because the data cannot support it, and returns were not in the files.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algorithms per problem (logistic or ridge regression, random forest, gradient boosting), tuned with cross-validation that respects time order.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axis runs 0 to 1 so the small bars are not exaggerated. The leakage catch is a good example of why we check before modelling.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result. Say it plainly: we do not recommend deploying these models for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choice made almost no difference, which tells us the limit is the information in the data, not the algorithm.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65.5% accuracy looks decent until you see the baseline gets the same by always saying Delayed.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and SHAP use different methods and disagree for the customer model, another sign the signal is weak.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facts computed from the raw tables. They are descriptive, and they are where the recommendations come from.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links to a number on the findings slide, has a named KPI and a time horizon. Full evidence is in the technical report.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9 is the important one for this project: do not let the current models drive decisions.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revisits delay prediction, demand forecasting, supplier scorecards and route optimisation once tracking data exists.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banner: the app tells the user how reliable each model really 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tx2"/>
                </a:solidFill>
              </a:rPr>
              <a:t>SwiftLog Logistics | AnalystLab Africa Week 5</a:t>
            </a:r>
            <a:endParaRPr lang="en-US" sz="10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28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097280"/>
            <a:ext cx="10058400" cy="365760"/>
          </a:xfrm>
          <a:prstGeom prst="rect">
            <a:avLst/>
          </a:prstGeom>
          <a:noFill/>
          <a:ln/>
        </p:spPr>
        <p:txBody>
          <a:bodyPr wrap="square" lIns="0" tIns="0" rIns="0" bIns="0" rtlCol="0" anchor="t"/>
          <a:lstStyle/>
          <a:p>
            <a:pPr marL="0" indent="0">
              <a:buNone/>
            </a:pPr>
            <a:endParaRPr lang="en-US" sz="1600" dirty="0"/>
          </a:p>
        </p:txBody>
      </p:sp>
      <p:sp>
        <p:nvSpPr>
          <p:cNvPr id="3" name="Text 1"/>
          <p:cNvSpPr txBox="1"/>
          <p:nvPr/>
        </p:nvSpPr>
        <p:spPr>
          <a:xfrm>
            <a:off x="822960" y="1920240"/>
            <a:ext cx="10058400" cy="2011680"/>
          </a:xfrm>
          <a:prstGeom prst="rect">
            <a:avLst/>
          </a:prstGeom>
          <a:noFill/>
          <a:ln/>
        </p:spPr>
        <p:txBody>
          <a:bodyPr wrap="square" lIns="0" tIns="0" rIns="0" bIns="0" rtlCol="0" anchor="t"/>
          <a:lstStyle/>
          <a:p>
            <a:pPr marL="0" indent="0">
              <a:buNone/>
            </a:pPr>
            <a:r>
              <a:rPr lang="en-US" sz="4600" b="1" dirty="0">
                <a:solidFill>
                  <a:srgbClr val="FF6600"/>
                </a:solidFill>
                <a:latin typeface="Cambria" pitchFamily="34" charset="0"/>
                <a:ea typeface="Cambria" pitchFamily="34" charset="-122"/>
                <a:cs typeface="Cambria" pitchFamily="34" charset="-120"/>
              </a:rPr>
              <a:t>SwiftLog Logistics Analytics and AI Transformation</a:t>
            </a:r>
            <a:endParaRPr lang="en-US" sz="4600" dirty="0">
              <a:solidFill>
                <a:srgbClr val="FF6600"/>
              </a:solidFill>
            </a:endParaRPr>
          </a:p>
        </p:txBody>
      </p:sp>
      <p:sp>
        <p:nvSpPr>
          <p:cNvPr id="4" name="Text 2"/>
          <p:cNvSpPr txBox="1"/>
          <p:nvPr/>
        </p:nvSpPr>
        <p:spPr>
          <a:xfrm>
            <a:off x="822960" y="4114800"/>
            <a:ext cx="10058400" cy="548640"/>
          </a:xfrm>
          <a:prstGeom prst="rect">
            <a:avLst/>
          </a:prstGeom>
          <a:noFill/>
          <a:ln/>
        </p:spPr>
        <p:txBody>
          <a:bodyPr wrap="square" lIns="0" tIns="0" rIns="0" bIns="0" rtlCol="0" anchor="t"/>
          <a:lstStyle/>
          <a:p>
            <a:pPr marL="0" indent="0">
              <a:buNone/>
            </a:pPr>
            <a:endParaRPr lang="en-US" sz="2200" dirty="0"/>
          </a:p>
        </p:txBody>
      </p:sp>
      <p:sp>
        <p:nvSpPr>
          <p:cNvPr id="5" name="Text 3"/>
          <p:cNvSpPr txBox="1"/>
          <p:nvPr/>
        </p:nvSpPr>
        <p:spPr>
          <a:xfrm>
            <a:off x="822960" y="5760720"/>
            <a:ext cx="10058400" cy="365760"/>
          </a:xfrm>
          <a:prstGeom prst="rect">
            <a:avLst/>
          </a:prstGeom>
          <a:noFill/>
          <a:ln/>
        </p:spPr>
        <p:txBody>
          <a:bodyPr wrap="square" lIns="0" tIns="0" rIns="0" bIns="0" rtlCol="0" anchor="t"/>
          <a:lstStyle/>
          <a:p>
            <a:pPr marL="0" indent="0">
              <a:buNone/>
            </a:pPr>
            <a:r>
              <a:rPr lang="en-US" sz="1400" dirty="0">
                <a:solidFill>
                  <a:schemeClr val="bg2"/>
                </a:solidFill>
              </a:rPr>
              <a:t>Dineo Nadine Sithole | Experience Lab Intern, Machine Learning Track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SwiftLog loses time and money before any model is involved</a:t>
            </a:r>
            <a:endParaRPr lang="en-US" sz="2800" dirty="0">
              <a:solidFill>
                <a:srgbClr val="FF6600"/>
              </a:solidFill>
            </a:endParaRPr>
          </a:p>
        </p:txBody>
      </p:sp>
      <p:sp>
        <p:nvSpPr>
          <p:cNvPr id="3" name="Stat card 1"/>
          <p:cNvSpPr/>
          <p:nvPr/>
        </p:nvSpPr>
        <p:spPr>
          <a:xfrm>
            <a:off x="548640" y="1737360"/>
            <a:ext cx="2633472" cy="3291840"/>
          </a:xfrm>
          <a:prstGeom prst="rect">
            <a:avLst/>
          </a:prstGeom>
          <a:solidFill>
            <a:schemeClr val="bg2"/>
          </a:solidFill>
          <a:ln w="6350">
            <a:solidFill>
              <a:schemeClr val="bg2"/>
            </a:solidFill>
            <a:prstDash val="solid"/>
          </a:ln>
        </p:spPr>
      </p:sp>
      <p:sp>
        <p:nvSpPr>
          <p:cNvPr id="4" name="Text 2"/>
          <p:cNvSpPr txBox="1"/>
          <p:nvPr/>
        </p:nvSpPr>
        <p:spPr>
          <a:xfrm>
            <a:off x="777240" y="2011680"/>
            <a:ext cx="2194560" cy="914400"/>
          </a:xfrm>
          <a:prstGeom prst="rect">
            <a:avLst/>
          </a:prstGeom>
          <a:noFill/>
          <a:ln/>
        </p:spPr>
        <p:txBody>
          <a:bodyPr wrap="square" lIns="0" tIns="0" rIns="0" bIns="0" rtlCol="0" anchor="t"/>
          <a:lstStyle/>
          <a:p>
            <a:pPr marL="0" indent="0">
              <a:buNone/>
            </a:pPr>
            <a:r>
              <a:rPr lang="en-US" sz="4800" b="1" dirty="0">
                <a:solidFill>
                  <a:schemeClr val="accent2"/>
                </a:solidFill>
                <a:latin typeface="Cambria" pitchFamily="34" charset="0"/>
                <a:ea typeface="Cambria" pitchFamily="34" charset="-122"/>
                <a:cs typeface="Cambria" pitchFamily="34" charset="-120"/>
              </a:rPr>
              <a:t>63.7%</a:t>
            </a:r>
            <a:endParaRPr lang="en-US" sz="4800" dirty="0"/>
          </a:p>
        </p:txBody>
      </p:sp>
      <p:sp>
        <p:nvSpPr>
          <p:cNvPr id="5" name="Text 3"/>
          <p:cNvSpPr txBox="1"/>
          <p:nvPr/>
        </p:nvSpPr>
        <p:spPr>
          <a:xfrm>
            <a:off x="777240" y="3108960"/>
            <a:ext cx="2194560" cy="914400"/>
          </a:xfrm>
          <a:prstGeom prst="rect">
            <a:avLst/>
          </a:prstGeom>
          <a:noFill/>
          <a:ln/>
        </p:spPr>
        <p:txBody>
          <a:bodyPr wrap="square" lIns="0" tIns="0" rIns="0" bIns="0" rtlCol="0" anchor="t"/>
          <a:lstStyle/>
          <a:p>
            <a:pPr marL="0" indent="0">
              <a:buNone/>
            </a:pPr>
            <a:r>
              <a:rPr lang="en-US" sz="1800" b="1" dirty="0">
                <a:solidFill>
                  <a:schemeClr val="tx1"/>
                </a:solidFill>
              </a:rPr>
              <a:t>of shipments delayed by 3+ days</a:t>
            </a:r>
            <a:endParaRPr lang="en-US" sz="1800" dirty="0"/>
          </a:p>
        </p:txBody>
      </p:sp>
      <p:sp>
        <p:nvSpPr>
          <p:cNvPr id="6" name="Text 4"/>
          <p:cNvSpPr txBox="1"/>
          <p:nvPr/>
        </p:nvSpPr>
        <p:spPr>
          <a:xfrm>
            <a:off x="777240" y="4114800"/>
            <a:ext cx="2194560" cy="731520"/>
          </a:xfrm>
          <a:prstGeom prst="rect">
            <a:avLst/>
          </a:prstGeom>
          <a:noFill/>
          <a:ln/>
        </p:spPr>
        <p:txBody>
          <a:bodyPr wrap="square" lIns="0" tIns="0" rIns="0" bIns="0" rtlCol="0" anchor="t"/>
          <a:lstStyle/>
          <a:p>
            <a:pPr marL="0" indent="0">
              <a:buNone/>
            </a:pPr>
            <a:r>
              <a:rPr lang="en-US" sz="1400" dirty="0">
                <a:solidFill>
                  <a:schemeClr val="tx2"/>
                </a:solidFill>
              </a:rPr>
              <a:t>mean delay 3.6 days</a:t>
            </a:r>
            <a:endParaRPr lang="en-US" sz="1400" dirty="0"/>
          </a:p>
        </p:txBody>
      </p:sp>
      <p:sp>
        <p:nvSpPr>
          <p:cNvPr id="7" name="Stat card 2"/>
          <p:cNvSpPr/>
          <p:nvPr/>
        </p:nvSpPr>
        <p:spPr>
          <a:xfrm>
            <a:off x="3364992" y="1737360"/>
            <a:ext cx="2633472" cy="3291840"/>
          </a:xfrm>
          <a:prstGeom prst="rect">
            <a:avLst/>
          </a:prstGeom>
          <a:solidFill>
            <a:schemeClr val="bg2"/>
          </a:solidFill>
          <a:ln w="6350">
            <a:solidFill>
              <a:schemeClr val="bg2"/>
            </a:solidFill>
            <a:prstDash val="solid"/>
          </a:ln>
        </p:spPr>
      </p:sp>
      <p:sp>
        <p:nvSpPr>
          <p:cNvPr id="8" name="Text 6"/>
          <p:cNvSpPr txBox="1"/>
          <p:nvPr/>
        </p:nvSpPr>
        <p:spPr>
          <a:xfrm>
            <a:off x="3593592" y="2011680"/>
            <a:ext cx="2194560" cy="914400"/>
          </a:xfrm>
          <a:prstGeom prst="rect">
            <a:avLst/>
          </a:prstGeom>
          <a:noFill/>
          <a:ln/>
        </p:spPr>
        <p:txBody>
          <a:bodyPr wrap="square" lIns="0" tIns="0" rIns="0" bIns="0" rtlCol="0" anchor="t"/>
          <a:lstStyle/>
          <a:p>
            <a:pPr marL="0" indent="0">
              <a:buNone/>
            </a:pPr>
            <a:r>
              <a:rPr lang="en-US" sz="4800" b="1" dirty="0">
                <a:solidFill>
                  <a:schemeClr val="accent6"/>
                </a:solidFill>
                <a:latin typeface="Cambria" pitchFamily="34" charset="0"/>
                <a:ea typeface="Cambria" pitchFamily="34" charset="-122"/>
                <a:cs typeface="Cambria" pitchFamily="34" charset="-120"/>
              </a:rPr>
              <a:t>32.5%</a:t>
            </a:r>
            <a:endParaRPr lang="en-US" sz="4800" dirty="0"/>
          </a:p>
        </p:txBody>
      </p:sp>
      <p:sp>
        <p:nvSpPr>
          <p:cNvPr id="9" name="Text 7"/>
          <p:cNvSpPr txBox="1"/>
          <p:nvPr/>
        </p:nvSpPr>
        <p:spPr>
          <a:xfrm>
            <a:off x="3593592" y="3108960"/>
            <a:ext cx="2194560" cy="914400"/>
          </a:xfrm>
          <a:prstGeom prst="rect">
            <a:avLst/>
          </a:prstGeom>
          <a:noFill/>
          <a:ln/>
        </p:spPr>
        <p:txBody>
          <a:bodyPr wrap="square" lIns="0" tIns="0" rIns="0" bIns="0" rtlCol="0" anchor="t"/>
          <a:lstStyle/>
          <a:p>
            <a:pPr marL="0" indent="0">
              <a:buNone/>
            </a:pPr>
            <a:r>
              <a:rPr lang="en-US" sz="1800" b="1" dirty="0">
                <a:solidFill>
                  <a:schemeClr val="tx1"/>
                </a:solidFill>
              </a:rPr>
              <a:t>of orders cancelled</a:t>
            </a:r>
            <a:endParaRPr lang="en-US" sz="1800" dirty="0"/>
          </a:p>
        </p:txBody>
      </p:sp>
      <p:sp>
        <p:nvSpPr>
          <p:cNvPr id="10" name="Text 8"/>
          <p:cNvSpPr txBox="1"/>
          <p:nvPr/>
        </p:nvSpPr>
        <p:spPr>
          <a:xfrm>
            <a:off x="3593592" y="4114800"/>
            <a:ext cx="2194560" cy="731520"/>
          </a:xfrm>
          <a:prstGeom prst="rect">
            <a:avLst/>
          </a:prstGeom>
          <a:noFill/>
          <a:ln/>
        </p:spPr>
        <p:txBody>
          <a:bodyPr wrap="square" lIns="0" tIns="0" rIns="0" bIns="0" rtlCol="0" anchor="t"/>
          <a:lstStyle/>
          <a:p>
            <a:pPr marL="0" indent="0">
              <a:buNone/>
            </a:pPr>
            <a:r>
              <a:rPr lang="en-US" sz="1400" dirty="0">
                <a:solidFill>
                  <a:schemeClr val="tx2"/>
                </a:solidFill>
              </a:rPr>
              <a:t>33.4% of ordered value</a:t>
            </a:r>
            <a:endParaRPr lang="en-US" sz="1400" dirty="0"/>
          </a:p>
        </p:txBody>
      </p:sp>
      <p:sp>
        <p:nvSpPr>
          <p:cNvPr id="11" name="Stat card 3"/>
          <p:cNvSpPr/>
          <p:nvPr/>
        </p:nvSpPr>
        <p:spPr>
          <a:xfrm>
            <a:off x="6181344" y="1737360"/>
            <a:ext cx="2633472" cy="3291840"/>
          </a:xfrm>
          <a:prstGeom prst="rect">
            <a:avLst/>
          </a:prstGeom>
          <a:solidFill>
            <a:schemeClr val="bg2"/>
          </a:solidFill>
          <a:ln w="6350">
            <a:solidFill>
              <a:schemeClr val="bg2"/>
            </a:solidFill>
            <a:prstDash val="solid"/>
          </a:ln>
        </p:spPr>
      </p:sp>
      <p:sp>
        <p:nvSpPr>
          <p:cNvPr id="12" name="Text 10"/>
          <p:cNvSpPr txBox="1"/>
          <p:nvPr/>
        </p:nvSpPr>
        <p:spPr>
          <a:xfrm>
            <a:off x="6409944" y="2011680"/>
            <a:ext cx="2194560" cy="914400"/>
          </a:xfrm>
          <a:prstGeom prst="rect">
            <a:avLst/>
          </a:prstGeom>
          <a:noFill/>
          <a:ln/>
        </p:spPr>
        <p:txBody>
          <a:bodyPr wrap="square" lIns="0" tIns="0" rIns="0" bIns="0" rtlCol="0" anchor="t"/>
          <a:lstStyle/>
          <a:p>
            <a:pPr marL="0" indent="0">
              <a:buNone/>
            </a:pPr>
            <a:r>
              <a:rPr lang="en-US" sz="4800" b="1" dirty="0">
                <a:solidFill>
                  <a:schemeClr val="accent4"/>
                </a:solidFill>
                <a:latin typeface="Cambria" pitchFamily="34" charset="0"/>
                <a:ea typeface="Cambria" pitchFamily="34" charset="-122"/>
                <a:cs typeface="Cambria" pitchFamily="34" charset="-120"/>
              </a:rPr>
              <a:t>34.3%</a:t>
            </a:r>
            <a:endParaRPr lang="en-US" sz="4800" dirty="0"/>
          </a:p>
        </p:txBody>
      </p:sp>
      <p:sp>
        <p:nvSpPr>
          <p:cNvPr id="13" name="Text 11"/>
          <p:cNvSpPr txBox="1"/>
          <p:nvPr/>
        </p:nvSpPr>
        <p:spPr>
          <a:xfrm>
            <a:off x="6409944" y="3108960"/>
            <a:ext cx="2194560" cy="914400"/>
          </a:xfrm>
          <a:prstGeom prst="rect">
            <a:avLst/>
          </a:prstGeom>
          <a:noFill/>
          <a:ln/>
        </p:spPr>
        <p:txBody>
          <a:bodyPr wrap="square" lIns="0" tIns="0" rIns="0" bIns="0" rtlCol="0" anchor="t"/>
          <a:lstStyle/>
          <a:p>
            <a:pPr marL="0" indent="0">
              <a:buNone/>
            </a:pPr>
            <a:r>
              <a:rPr lang="en-US" sz="1800" b="1" dirty="0">
                <a:solidFill>
                  <a:schemeClr val="tx1"/>
                </a:solidFill>
              </a:rPr>
              <a:t>of orders still Pending</a:t>
            </a:r>
            <a:endParaRPr lang="en-US" sz="1800" dirty="0"/>
          </a:p>
        </p:txBody>
      </p:sp>
      <p:sp>
        <p:nvSpPr>
          <p:cNvPr id="14" name="Text 12"/>
          <p:cNvSpPr txBox="1"/>
          <p:nvPr/>
        </p:nvSpPr>
        <p:spPr>
          <a:xfrm>
            <a:off x="6409944" y="4114800"/>
            <a:ext cx="2194560" cy="731520"/>
          </a:xfrm>
          <a:prstGeom prst="rect">
            <a:avLst/>
          </a:prstGeom>
          <a:noFill/>
          <a:ln/>
        </p:spPr>
        <p:txBody>
          <a:bodyPr wrap="square" lIns="0" tIns="0" rIns="0" bIns="0" rtlCol="0" anchor="t"/>
          <a:lstStyle/>
          <a:p>
            <a:pPr marL="0" indent="0">
              <a:buNone/>
            </a:pPr>
            <a:r>
              <a:rPr lang="en-US" sz="1400" dirty="0">
                <a:solidFill>
                  <a:schemeClr val="tx2"/>
                </a:solidFill>
              </a:rPr>
              <a:t>88% older than 30 days</a:t>
            </a:r>
            <a:endParaRPr lang="en-US" sz="1400" dirty="0"/>
          </a:p>
        </p:txBody>
      </p:sp>
      <p:sp>
        <p:nvSpPr>
          <p:cNvPr id="15" name="Stat card 4"/>
          <p:cNvSpPr/>
          <p:nvPr/>
        </p:nvSpPr>
        <p:spPr>
          <a:xfrm>
            <a:off x="8997696" y="1737360"/>
            <a:ext cx="2633472" cy="3291840"/>
          </a:xfrm>
          <a:prstGeom prst="rect">
            <a:avLst/>
          </a:prstGeom>
          <a:solidFill>
            <a:schemeClr val="bg2"/>
          </a:solidFill>
          <a:ln w="6350">
            <a:solidFill>
              <a:schemeClr val="bg2"/>
            </a:solidFill>
            <a:prstDash val="solid"/>
          </a:ln>
        </p:spPr>
      </p:sp>
      <p:sp>
        <p:nvSpPr>
          <p:cNvPr id="16" name="Text 14"/>
          <p:cNvSpPr txBox="1"/>
          <p:nvPr/>
        </p:nvSpPr>
        <p:spPr>
          <a:xfrm>
            <a:off x="9226296" y="2011680"/>
            <a:ext cx="2194560" cy="914400"/>
          </a:xfrm>
          <a:prstGeom prst="rect">
            <a:avLst/>
          </a:prstGeom>
          <a:noFill/>
          <a:ln/>
        </p:spPr>
        <p:txBody>
          <a:bodyPr wrap="square" lIns="0" tIns="0" rIns="0" bIns="0" rtlCol="0" anchor="t"/>
          <a:lstStyle/>
          <a:p>
            <a:pPr marL="0" indent="0">
              <a:buNone/>
            </a:pPr>
            <a:r>
              <a:rPr lang="en-US" sz="4800" b="1" dirty="0">
                <a:solidFill>
                  <a:schemeClr val="accent5"/>
                </a:solidFill>
                <a:latin typeface="Cambria" pitchFamily="34" charset="0"/>
                <a:ea typeface="Cambria" pitchFamily="34" charset="-122"/>
                <a:cs typeface="Cambria" pitchFamily="34" charset="-120"/>
              </a:rPr>
              <a:t>~150</a:t>
            </a:r>
            <a:endParaRPr lang="en-US" sz="4800" dirty="0"/>
          </a:p>
        </p:txBody>
      </p:sp>
      <p:sp>
        <p:nvSpPr>
          <p:cNvPr id="17" name="Text 15"/>
          <p:cNvSpPr txBox="1"/>
          <p:nvPr/>
        </p:nvSpPr>
        <p:spPr>
          <a:xfrm>
            <a:off x="9226296" y="3108960"/>
            <a:ext cx="2194560" cy="914400"/>
          </a:xfrm>
          <a:prstGeom prst="rect">
            <a:avLst/>
          </a:prstGeom>
          <a:noFill/>
          <a:ln/>
        </p:spPr>
        <p:txBody>
          <a:bodyPr wrap="square" lIns="0" tIns="0" rIns="0" bIns="0" rtlCol="0" anchor="t"/>
          <a:lstStyle/>
          <a:p>
            <a:pPr marL="0" indent="0">
              <a:buNone/>
            </a:pPr>
            <a:r>
              <a:rPr lang="en-US" sz="1800" b="1" dirty="0">
                <a:solidFill>
                  <a:schemeClr val="tx1"/>
                </a:solidFill>
              </a:rPr>
              <a:t>months of stock cover</a:t>
            </a:r>
            <a:endParaRPr lang="en-US" sz="1800" dirty="0"/>
          </a:p>
        </p:txBody>
      </p:sp>
      <p:sp>
        <p:nvSpPr>
          <p:cNvPr id="18" name="Text 16"/>
          <p:cNvSpPr txBox="1"/>
          <p:nvPr/>
        </p:nvSpPr>
        <p:spPr>
          <a:xfrm>
            <a:off x="9226296" y="4114800"/>
            <a:ext cx="2194560" cy="731520"/>
          </a:xfrm>
          <a:prstGeom prst="rect">
            <a:avLst/>
          </a:prstGeom>
          <a:noFill/>
          <a:ln/>
        </p:spPr>
        <p:txBody>
          <a:bodyPr wrap="square" lIns="0" tIns="0" rIns="0" bIns="0" rtlCol="0" anchor="t"/>
          <a:lstStyle/>
          <a:p>
            <a:pPr marL="0" indent="0">
              <a:buNone/>
            </a:pPr>
            <a:r>
              <a:rPr lang="en-US" sz="1400" dirty="0">
                <a:solidFill>
                  <a:schemeClr val="tx2"/>
                </a:solidFill>
              </a:rPr>
              <a:t>1.0M units vs 6.7k sold a month</a:t>
            </a:r>
            <a:endParaRPr lang="en-US" sz="1400" dirty="0"/>
          </a:p>
        </p:txBody>
      </p:sp>
      <p:sp>
        <p:nvSpPr>
          <p:cNvPr id="19" name="Text 17"/>
          <p:cNvSpPr txBox="1"/>
          <p:nvPr/>
        </p:nvSpPr>
        <p:spPr>
          <a:xfrm>
            <a:off x="548640" y="5394960"/>
            <a:ext cx="11064240" cy="731520"/>
          </a:xfrm>
          <a:prstGeom prst="rect">
            <a:avLst/>
          </a:prstGeom>
          <a:noFill/>
          <a:ln/>
        </p:spPr>
        <p:txBody>
          <a:bodyPr wrap="square" lIns="0" tIns="0" rIns="0" bIns="0" rtlCol="0" anchor="t"/>
          <a:lstStyle/>
          <a:p>
            <a:pPr marL="0" indent="0">
              <a:buNone/>
            </a:pPr>
            <a:r>
              <a:rPr lang="en-US" sz="1600" dirty="0">
                <a:solidFill>
                  <a:schemeClr val="tx1"/>
                </a:solidFill>
              </a:rPr>
              <a:t>Delay, cancellation and backlog levels are similar across every warehouse and city, so they look like system-wide process issues rather than one bad location.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We set out to predict four logistics outcomes</a:t>
            </a:r>
            <a:endParaRPr lang="en-US" sz="2800" dirty="0">
              <a:solidFill>
                <a:srgbClr val="FF6600"/>
              </a:solidFill>
            </a:endParaRPr>
          </a:p>
        </p:txBody>
      </p:sp>
      <p:sp>
        <p:nvSpPr>
          <p:cNvPr id="3" name="Problem card 1"/>
          <p:cNvSpPr/>
          <p:nvPr/>
        </p:nvSpPr>
        <p:spPr>
          <a:xfrm>
            <a:off x="548640" y="1554480"/>
            <a:ext cx="5440680" cy="1828800"/>
          </a:xfrm>
          <a:prstGeom prst="rect">
            <a:avLst/>
          </a:prstGeom>
          <a:solidFill>
            <a:schemeClr val="bg2"/>
          </a:solidFill>
          <a:ln w="6350">
            <a:solidFill>
              <a:schemeClr val="bg2"/>
            </a:solidFill>
            <a:prstDash val="solid"/>
          </a:ln>
        </p:spPr>
      </p:sp>
      <p:sp>
        <p:nvSpPr>
          <p:cNvPr id="4" name="Text 2"/>
          <p:cNvSpPr txBox="1"/>
          <p:nvPr/>
        </p:nvSpPr>
        <p:spPr>
          <a:xfrm>
            <a:off x="777240" y="1719072"/>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Delivery delay</a:t>
            </a:r>
            <a:endParaRPr lang="en-US" sz="1800" dirty="0"/>
          </a:p>
        </p:txBody>
      </p:sp>
      <p:sp>
        <p:nvSpPr>
          <p:cNvPr id="5" name="Text 3"/>
          <p:cNvSpPr txBox="1"/>
          <p:nvPr/>
        </p:nvSpPr>
        <p:spPr>
          <a:xfrm>
            <a:off x="4206240" y="1737360"/>
            <a:ext cx="1554480" cy="320040"/>
          </a:xfrm>
          <a:prstGeom prst="rect">
            <a:avLst/>
          </a:prstGeom>
          <a:noFill/>
          <a:ln/>
        </p:spPr>
        <p:txBody>
          <a:bodyPr wrap="square" lIns="0" tIns="0" rIns="0" bIns="0" rtlCol="0" anchor="t"/>
          <a:lstStyle/>
          <a:p>
            <a:pPr marL="0" indent="0" algn="r">
              <a:buNone/>
            </a:pPr>
            <a:r>
              <a:rPr lang="en-US" sz="1200" b="1" dirty="0">
                <a:solidFill>
                  <a:schemeClr val="accent1"/>
                </a:solidFill>
              </a:rPr>
              <a:t>Classification</a:t>
            </a:r>
            <a:endParaRPr lang="en-US" sz="1200" dirty="0"/>
          </a:p>
        </p:txBody>
      </p:sp>
      <p:sp>
        <p:nvSpPr>
          <p:cNvPr id="6" name="Text 4"/>
          <p:cNvSpPr txBox="1"/>
          <p:nvPr/>
        </p:nvSpPr>
        <p:spPr>
          <a:xfrm>
            <a:off x="777240" y="2194560"/>
            <a:ext cx="4983480" cy="457200"/>
          </a:xfrm>
          <a:prstGeom prst="rect">
            <a:avLst/>
          </a:prstGeom>
          <a:noFill/>
          <a:ln/>
        </p:spPr>
        <p:txBody>
          <a:bodyPr wrap="square" lIns="0" tIns="0" rIns="0" bIns="0" rtlCol="0" anchor="t"/>
          <a:lstStyle/>
          <a:p>
            <a:pPr marL="0" indent="0">
              <a:buNone/>
            </a:pPr>
            <a:r>
              <a:rPr lang="en-US" sz="1400" dirty="0">
                <a:solidFill>
                  <a:schemeClr val="tx1"/>
                </a:solidFill>
              </a:rPr>
              <a:t>Target: Shipment delayed 3+ days (1) or not (0)</a:t>
            </a:r>
            <a:endParaRPr lang="en-US" sz="1400" dirty="0"/>
          </a:p>
        </p:txBody>
      </p:sp>
      <p:sp>
        <p:nvSpPr>
          <p:cNvPr id="7" name="Text 5"/>
          <p:cNvSpPr txBox="1"/>
          <p:nvPr/>
        </p:nvSpPr>
        <p:spPr>
          <a:xfrm>
            <a:off x="777240" y="2697480"/>
            <a:ext cx="4983480" cy="274320"/>
          </a:xfrm>
          <a:prstGeom prst="rect">
            <a:avLst/>
          </a:prstGeom>
          <a:noFill/>
          <a:ln/>
        </p:spPr>
        <p:txBody>
          <a:bodyPr wrap="square" lIns="0" tIns="0" rIns="0" bIns="0" rtlCol="0" anchor="t"/>
          <a:lstStyle/>
          <a:p>
            <a:pPr marL="0" indent="0">
              <a:buNone/>
            </a:pPr>
            <a:r>
              <a:rPr lang="en-US" sz="1300" dirty="0">
                <a:solidFill>
                  <a:schemeClr val="tx2"/>
                </a:solidFill>
              </a:rPr>
              <a:t>Data: 5,000 shipments</a:t>
            </a:r>
            <a:endParaRPr lang="en-US" sz="1300" dirty="0"/>
          </a:p>
        </p:txBody>
      </p:sp>
      <p:sp>
        <p:nvSpPr>
          <p:cNvPr id="8" name="Text 6"/>
          <p:cNvSpPr txBox="1"/>
          <p:nvPr/>
        </p:nvSpPr>
        <p:spPr>
          <a:xfrm>
            <a:off x="777240" y="2971800"/>
            <a:ext cx="4983480" cy="365760"/>
          </a:xfrm>
          <a:prstGeom prst="rect">
            <a:avLst/>
          </a:prstGeom>
          <a:noFill/>
          <a:ln/>
        </p:spPr>
        <p:txBody>
          <a:bodyPr wrap="square" lIns="0" tIns="0" rIns="0" bIns="0" rtlCol="0" anchor="t"/>
          <a:lstStyle/>
          <a:p>
            <a:pPr marL="0" indent="0">
              <a:buNone/>
            </a:pPr>
            <a:r>
              <a:rPr lang="en-US" sz="1100" dirty="0">
                <a:solidFill>
                  <a:schemeClr val="tx2"/>
                </a:solidFill>
              </a:rPr>
              <a:t>Tables: Orders, Order_Items, Products, Customers, Shipments, Delivery_Performance, Warehouses</a:t>
            </a:r>
            <a:endParaRPr lang="en-US" sz="1100" dirty="0"/>
          </a:p>
        </p:txBody>
      </p:sp>
      <p:sp>
        <p:nvSpPr>
          <p:cNvPr id="9" name="Problem card 2"/>
          <p:cNvSpPr/>
          <p:nvPr/>
        </p:nvSpPr>
        <p:spPr>
          <a:xfrm>
            <a:off x="6172200" y="1554480"/>
            <a:ext cx="5440680" cy="1828800"/>
          </a:xfrm>
          <a:prstGeom prst="rect">
            <a:avLst/>
          </a:prstGeom>
          <a:solidFill>
            <a:schemeClr val="bg2"/>
          </a:solidFill>
          <a:ln w="6350">
            <a:solidFill>
              <a:schemeClr val="bg2"/>
            </a:solidFill>
            <a:prstDash val="solid"/>
          </a:ln>
        </p:spPr>
      </p:sp>
      <p:sp>
        <p:nvSpPr>
          <p:cNvPr id="10" name="Text 8"/>
          <p:cNvSpPr txBox="1"/>
          <p:nvPr/>
        </p:nvSpPr>
        <p:spPr>
          <a:xfrm>
            <a:off x="6400800" y="1719072"/>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Demand forecasting</a:t>
            </a:r>
            <a:endParaRPr lang="en-US" sz="1800" dirty="0"/>
          </a:p>
        </p:txBody>
      </p:sp>
      <p:sp>
        <p:nvSpPr>
          <p:cNvPr id="11" name="Text 9"/>
          <p:cNvSpPr txBox="1"/>
          <p:nvPr/>
        </p:nvSpPr>
        <p:spPr>
          <a:xfrm>
            <a:off x="9829800" y="1737360"/>
            <a:ext cx="1554480" cy="320040"/>
          </a:xfrm>
          <a:prstGeom prst="rect">
            <a:avLst/>
          </a:prstGeom>
          <a:noFill/>
          <a:ln/>
        </p:spPr>
        <p:txBody>
          <a:bodyPr wrap="square" lIns="0" tIns="0" rIns="0" bIns="0" rtlCol="0" anchor="t"/>
          <a:lstStyle/>
          <a:p>
            <a:pPr marL="0" indent="0" algn="r">
              <a:buNone/>
            </a:pPr>
            <a:r>
              <a:rPr lang="en-US" sz="1200" b="1" dirty="0">
                <a:solidFill>
                  <a:schemeClr val="accent1"/>
                </a:solidFill>
              </a:rPr>
              <a:t>Regression</a:t>
            </a:r>
            <a:endParaRPr lang="en-US" sz="1200" dirty="0"/>
          </a:p>
        </p:txBody>
      </p:sp>
      <p:sp>
        <p:nvSpPr>
          <p:cNvPr id="12" name="Text 10"/>
          <p:cNvSpPr txBox="1"/>
          <p:nvPr/>
        </p:nvSpPr>
        <p:spPr>
          <a:xfrm>
            <a:off x="6400800" y="2194560"/>
            <a:ext cx="4983480" cy="457200"/>
          </a:xfrm>
          <a:prstGeom prst="rect">
            <a:avLst/>
          </a:prstGeom>
          <a:noFill/>
          <a:ln/>
        </p:spPr>
        <p:txBody>
          <a:bodyPr wrap="square" lIns="0" tIns="0" rIns="0" bIns="0" rtlCol="0" anchor="t"/>
          <a:lstStyle/>
          <a:p>
            <a:pPr marL="0" indent="0">
              <a:buNone/>
            </a:pPr>
            <a:r>
              <a:rPr lang="en-US" sz="1400" dirty="0">
                <a:solidFill>
                  <a:schemeClr val="tx1"/>
                </a:solidFill>
              </a:rPr>
              <a:t>Target: Units sold per product next month</a:t>
            </a:r>
            <a:endParaRPr lang="en-US" sz="1400" dirty="0"/>
          </a:p>
        </p:txBody>
      </p:sp>
      <p:sp>
        <p:nvSpPr>
          <p:cNvPr id="13" name="Text 11"/>
          <p:cNvSpPr txBox="1"/>
          <p:nvPr/>
        </p:nvSpPr>
        <p:spPr>
          <a:xfrm>
            <a:off x="6400800" y="2697480"/>
            <a:ext cx="4983480" cy="274320"/>
          </a:xfrm>
          <a:prstGeom prst="rect">
            <a:avLst/>
          </a:prstGeom>
          <a:noFill/>
          <a:ln/>
        </p:spPr>
        <p:txBody>
          <a:bodyPr wrap="square" lIns="0" tIns="0" rIns="0" bIns="0" rtlCol="0" anchor="t"/>
          <a:lstStyle/>
          <a:p>
            <a:pPr marL="0" indent="0">
              <a:buNone/>
            </a:pPr>
            <a:r>
              <a:rPr lang="en-US" sz="1300" dirty="0">
                <a:solidFill>
                  <a:schemeClr val="tx2"/>
                </a:solidFill>
              </a:rPr>
              <a:t>Data: 1,500 product-months</a:t>
            </a:r>
            <a:endParaRPr lang="en-US" sz="1300" dirty="0"/>
          </a:p>
        </p:txBody>
      </p:sp>
      <p:sp>
        <p:nvSpPr>
          <p:cNvPr id="14" name="Text 12"/>
          <p:cNvSpPr txBox="1"/>
          <p:nvPr/>
        </p:nvSpPr>
        <p:spPr>
          <a:xfrm>
            <a:off x="6400800" y="2971800"/>
            <a:ext cx="4983480" cy="365760"/>
          </a:xfrm>
          <a:prstGeom prst="rect">
            <a:avLst/>
          </a:prstGeom>
          <a:noFill/>
          <a:ln/>
        </p:spPr>
        <p:txBody>
          <a:bodyPr wrap="square" lIns="0" tIns="0" rIns="0" bIns="0" rtlCol="0" anchor="t"/>
          <a:lstStyle/>
          <a:p>
            <a:pPr marL="0" indent="0">
              <a:buNone/>
            </a:pPr>
            <a:r>
              <a:rPr lang="en-US" sz="1100" dirty="0">
                <a:solidFill>
                  <a:schemeClr val="tx2"/>
                </a:solidFill>
              </a:rPr>
              <a:t>Tables: Orders, Order_Items, Products, Inventory</a:t>
            </a:r>
            <a:endParaRPr lang="en-US" sz="1100" dirty="0"/>
          </a:p>
        </p:txBody>
      </p:sp>
      <p:sp>
        <p:nvSpPr>
          <p:cNvPr id="15" name="Problem card 3"/>
          <p:cNvSpPr/>
          <p:nvPr/>
        </p:nvSpPr>
        <p:spPr>
          <a:xfrm>
            <a:off x="548640" y="3566160"/>
            <a:ext cx="5440680" cy="1828800"/>
          </a:xfrm>
          <a:prstGeom prst="rect">
            <a:avLst/>
          </a:prstGeom>
          <a:solidFill>
            <a:schemeClr val="bg2"/>
          </a:solidFill>
          <a:ln w="6350">
            <a:solidFill>
              <a:schemeClr val="bg2"/>
            </a:solidFill>
            <a:prstDash val="solid"/>
          </a:ln>
        </p:spPr>
      </p:sp>
      <p:sp>
        <p:nvSpPr>
          <p:cNvPr id="16" name="Text 14"/>
          <p:cNvSpPr txBox="1"/>
          <p:nvPr/>
        </p:nvSpPr>
        <p:spPr>
          <a:xfrm>
            <a:off x="777240" y="3730752"/>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Customer value</a:t>
            </a:r>
            <a:endParaRPr lang="en-US" sz="1800" dirty="0"/>
          </a:p>
        </p:txBody>
      </p:sp>
      <p:sp>
        <p:nvSpPr>
          <p:cNvPr id="17" name="Text 15"/>
          <p:cNvSpPr txBox="1"/>
          <p:nvPr/>
        </p:nvSpPr>
        <p:spPr>
          <a:xfrm>
            <a:off x="4206240" y="3749040"/>
            <a:ext cx="1554480" cy="320040"/>
          </a:xfrm>
          <a:prstGeom prst="rect">
            <a:avLst/>
          </a:prstGeom>
          <a:noFill/>
          <a:ln/>
        </p:spPr>
        <p:txBody>
          <a:bodyPr wrap="square" lIns="0" tIns="0" rIns="0" bIns="0" rtlCol="0" anchor="t"/>
          <a:lstStyle/>
          <a:p>
            <a:pPr marL="0" indent="0" algn="r">
              <a:buNone/>
            </a:pPr>
            <a:r>
              <a:rPr lang="en-US" sz="1200" b="1" dirty="0">
                <a:solidFill>
                  <a:schemeClr val="accent1"/>
                </a:solidFill>
              </a:rPr>
              <a:t>Regression</a:t>
            </a:r>
            <a:endParaRPr lang="en-US" sz="1200" dirty="0"/>
          </a:p>
        </p:txBody>
      </p:sp>
      <p:sp>
        <p:nvSpPr>
          <p:cNvPr id="18" name="Text 16"/>
          <p:cNvSpPr txBox="1"/>
          <p:nvPr/>
        </p:nvSpPr>
        <p:spPr>
          <a:xfrm>
            <a:off x="777240" y="4206240"/>
            <a:ext cx="4983480" cy="457200"/>
          </a:xfrm>
          <a:prstGeom prst="rect">
            <a:avLst/>
          </a:prstGeom>
          <a:noFill/>
          <a:ln/>
        </p:spPr>
        <p:txBody>
          <a:bodyPr wrap="square" lIns="0" tIns="0" rIns="0" bIns="0" rtlCol="0" anchor="t"/>
          <a:lstStyle/>
          <a:p>
            <a:pPr marL="0" indent="0">
              <a:buNone/>
            </a:pPr>
            <a:r>
              <a:rPr lang="en-US" sz="1400" dirty="0">
                <a:solidFill>
                  <a:schemeClr val="tx1"/>
                </a:solidFill>
              </a:rPr>
              <a:t>Target: Spend in June to August from Jan to May behaviour</a:t>
            </a:r>
            <a:endParaRPr lang="en-US" sz="1400" dirty="0"/>
          </a:p>
        </p:txBody>
      </p:sp>
      <p:sp>
        <p:nvSpPr>
          <p:cNvPr id="19" name="Text 17"/>
          <p:cNvSpPr txBox="1"/>
          <p:nvPr/>
        </p:nvSpPr>
        <p:spPr>
          <a:xfrm>
            <a:off x="777240" y="4709160"/>
            <a:ext cx="4983480" cy="274320"/>
          </a:xfrm>
          <a:prstGeom prst="rect">
            <a:avLst/>
          </a:prstGeom>
          <a:noFill/>
          <a:ln/>
        </p:spPr>
        <p:txBody>
          <a:bodyPr wrap="square" lIns="0" tIns="0" rIns="0" bIns="0" rtlCol="0" anchor="t"/>
          <a:lstStyle/>
          <a:p>
            <a:pPr marL="0" indent="0">
              <a:buNone/>
            </a:pPr>
            <a:r>
              <a:rPr lang="en-US" sz="1300" dirty="0">
                <a:solidFill>
                  <a:schemeClr val="tx2"/>
                </a:solidFill>
              </a:rPr>
              <a:t>Data: 1,000 customers</a:t>
            </a:r>
            <a:endParaRPr lang="en-US" sz="1300" dirty="0"/>
          </a:p>
        </p:txBody>
      </p:sp>
      <p:sp>
        <p:nvSpPr>
          <p:cNvPr id="20" name="Text 18"/>
          <p:cNvSpPr txBox="1"/>
          <p:nvPr/>
        </p:nvSpPr>
        <p:spPr>
          <a:xfrm>
            <a:off x="777240" y="4983480"/>
            <a:ext cx="4983480" cy="365760"/>
          </a:xfrm>
          <a:prstGeom prst="rect">
            <a:avLst/>
          </a:prstGeom>
          <a:noFill/>
          <a:ln/>
        </p:spPr>
        <p:txBody>
          <a:bodyPr wrap="square" lIns="0" tIns="0" rIns="0" bIns="0" rtlCol="0" anchor="t"/>
          <a:lstStyle/>
          <a:p>
            <a:pPr marL="0" indent="0">
              <a:buNone/>
            </a:pPr>
            <a:r>
              <a:rPr lang="en-US" sz="1100" dirty="0">
                <a:solidFill>
                  <a:schemeClr val="tx2"/>
                </a:solidFill>
              </a:rPr>
              <a:t>Tables: Customers, Orders, Order_Items, Products</a:t>
            </a:r>
            <a:endParaRPr lang="en-US" sz="1100" dirty="0"/>
          </a:p>
        </p:txBody>
      </p:sp>
      <p:sp>
        <p:nvSpPr>
          <p:cNvPr id="21" name="Problem card 4"/>
          <p:cNvSpPr/>
          <p:nvPr/>
        </p:nvSpPr>
        <p:spPr>
          <a:xfrm>
            <a:off x="6172200" y="3566160"/>
            <a:ext cx="5440680" cy="1828800"/>
          </a:xfrm>
          <a:prstGeom prst="rect">
            <a:avLst/>
          </a:prstGeom>
          <a:solidFill>
            <a:schemeClr val="bg2"/>
          </a:solidFill>
          <a:ln w="6350">
            <a:solidFill>
              <a:schemeClr val="bg2"/>
            </a:solidFill>
            <a:prstDash val="solid"/>
          </a:ln>
        </p:spPr>
      </p:sp>
      <p:sp>
        <p:nvSpPr>
          <p:cNvPr id="22" name="Text 20"/>
          <p:cNvSpPr txBox="1"/>
          <p:nvPr/>
        </p:nvSpPr>
        <p:spPr>
          <a:xfrm>
            <a:off x="6400800" y="3730752"/>
            <a:ext cx="35661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Warehouse performance</a:t>
            </a:r>
            <a:endParaRPr lang="en-US" sz="1800" dirty="0"/>
          </a:p>
        </p:txBody>
      </p:sp>
      <p:sp>
        <p:nvSpPr>
          <p:cNvPr id="23" name="Text 21"/>
          <p:cNvSpPr txBox="1"/>
          <p:nvPr/>
        </p:nvSpPr>
        <p:spPr>
          <a:xfrm>
            <a:off x="9829800" y="3749040"/>
            <a:ext cx="1554480" cy="320040"/>
          </a:xfrm>
          <a:prstGeom prst="rect">
            <a:avLst/>
          </a:prstGeom>
          <a:noFill/>
          <a:ln/>
        </p:spPr>
        <p:txBody>
          <a:bodyPr wrap="square" lIns="0" tIns="0" rIns="0" bIns="0" rtlCol="0" anchor="t"/>
          <a:lstStyle/>
          <a:p>
            <a:pPr marL="0" indent="0" algn="r">
              <a:buNone/>
            </a:pPr>
            <a:r>
              <a:rPr lang="en-US" sz="1200" b="1" dirty="0">
                <a:solidFill>
                  <a:schemeClr val="accent1"/>
                </a:solidFill>
              </a:rPr>
              <a:t>Regression</a:t>
            </a:r>
            <a:endParaRPr lang="en-US" sz="1200" dirty="0"/>
          </a:p>
        </p:txBody>
      </p:sp>
      <p:sp>
        <p:nvSpPr>
          <p:cNvPr id="24" name="Text 22"/>
          <p:cNvSpPr txBox="1"/>
          <p:nvPr/>
        </p:nvSpPr>
        <p:spPr>
          <a:xfrm>
            <a:off x="6400800" y="4206240"/>
            <a:ext cx="4983480" cy="457200"/>
          </a:xfrm>
          <a:prstGeom prst="rect">
            <a:avLst/>
          </a:prstGeom>
          <a:noFill/>
          <a:ln/>
        </p:spPr>
        <p:txBody>
          <a:bodyPr wrap="square" lIns="0" tIns="0" rIns="0" bIns="0" rtlCol="0" anchor="t"/>
          <a:lstStyle/>
          <a:p>
            <a:pPr marL="0" indent="0">
              <a:buNone/>
            </a:pPr>
            <a:r>
              <a:rPr lang="en-US" sz="1400" dirty="0">
                <a:solidFill>
                  <a:schemeClr val="tx1"/>
                </a:solidFill>
              </a:rPr>
              <a:t>Target: Delay rate of a warehouse in a month</a:t>
            </a:r>
            <a:endParaRPr lang="en-US" sz="1400" dirty="0"/>
          </a:p>
        </p:txBody>
      </p:sp>
      <p:sp>
        <p:nvSpPr>
          <p:cNvPr id="25" name="Text 23"/>
          <p:cNvSpPr txBox="1"/>
          <p:nvPr/>
        </p:nvSpPr>
        <p:spPr>
          <a:xfrm>
            <a:off x="6400800" y="4709160"/>
            <a:ext cx="4983480" cy="274320"/>
          </a:xfrm>
          <a:prstGeom prst="rect">
            <a:avLst/>
          </a:prstGeom>
          <a:noFill/>
          <a:ln/>
        </p:spPr>
        <p:txBody>
          <a:bodyPr wrap="square" lIns="0" tIns="0" rIns="0" bIns="0" rtlCol="0" anchor="t"/>
          <a:lstStyle/>
          <a:p>
            <a:pPr marL="0" indent="0">
              <a:buNone/>
            </a:pPr>
            <a:r>
              <a:rPr lang="en-US" sz="1300" dirty="0">
                <a:solidFill>
                  <a:schemeClr val="tx2"/>
                </a:solidFill>
              </a:rPr>
              <a:t>Data: 105 warehouse-months</a:t>
            </a:r>
            <a:endParaRPr lang="en-US" sz="1300" dirty="0"/>
          </a:p>
        </p:txBody>
      </p:sp>
      <p:sp>
        <p:nvSpPr>
          <p:cNvPr id="26" name="Text 24"/>
          <p:cNvSpPr txBox="1"/>
          <p:nvPr/>
        </p:nvSpPr>
        <p:spPr>
          <a:xfrm>
            <a:off x="6400800" y="4983480"/>
            <a:ext cx="4983480" cy="365760"/>
          </a:xfrm>
          <a:prstGeom prst="rect">
            <a:avLst/>
          </a:prstGeom>
          <a:noFill/>
          <a:ln/>
        </p:spPr>
        <p:txBody>
          <a:bodyPr wrap="square" lIns="0" tIns="0" rIns="0" bIns="0" rtlCol="0" anchor="t"/>
          <a:lstStyle/>
          <a:p>
            <a:pPr marL="0" indent="0">
              <a:buNone/>
            </a:pPr>
            <a:r>
              <a:rPr lang="en-US" sz="1100" dirty="0">
                <a:solidFill>
                  <a:schemeClr val="tx2"/>
                </a:solidFill>
              </a:rPr>
              <a:t>Tables: Warehouses, Inventory, Shipments, Delivery_Performance, Orders, Order_Items</a:t>
            </a:r>
            <a:endParaRPr lang="en-US" sz="1100" dirty="0"/>
          </a:p>
        </p:txBody>
      </p:sp>
      <p:sp>
        <p:nvSpPr>
          <p:cNvPr id="27" name="Text 25"/>
          <p:cNvSpPr txBox="1"/>
          <p:nvPr/>
        </p:nvSpPr>
        <p:spPr>
          <a:xfrm>
            <a:off x="548640" y="5669280"/>
            <a:ext cx="11064240" cy="548640"/>
          </a:xfrm>
          <a:prstGeom prst="rect">
            <a:avLst/>
          </a:prstGeom>
          <a:noFill/>
          <a:ln/>
        </p:spPr>
        <p:txBody>
          <a:bodyPr wrap="square" lIns="0" tIns="0" rIns="0" bIns="0" rtlCol="0" anchor="t"/>
          <a:lstStyle/>
          <a:p>
            <a:pPr marL="0" indent="0">
              <a:buNone/>
            </a:pPr>
            <a:r>
              <a:rPr lang="en-US" sz="1400" dirty="0">
                <a:solidFill>
                  <a:schemeClr val="tx2"/>
                </a:solidFill>
              </a:rPr>
              <a:t>Not built: supplier reliability (no table links suppliers to shipments or products) and product returns (Returns.csv was not provided). Delay prediction replaces supplier reliability.</a:t>
            </a:r>
            <a:endParaRPr lang="en-US" sz="14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How we built and tested the models</a:t>
            </a:r>
            <a:endParaRPr lang="en-US" sz="2800" dirty="0">
              <a:solidFill>
                <a:srgbClr val="FF6600"/>
              </a:solidFill>
            </a:endParaRPr>
          </a:p>
        </p:txBody>
      </p:sp>
      <p:pic>
        <p:nvPicPr>
          <p:cNvPr id="3" name="Workflow diagram" descr="Workflow diagram"/>
          <p:cNvPicPr>
            <a:picLocks noChangeAspect="1"/>
          </p:cNvPicPr>
          <p:nvPr/>
        </p:nvPicPr>
        <p:blipFill>
          <a:blip r:embed="rId3"/>
          <a:stretch>
            <a:fillRect/>
          </a:stretch>
        </p:blipFill>
        <p:spPr>
          <a:xfrm>
            <a:off x="548640" y="1551159"/>
            <a:ext cx="11064240" cy="2201201"/>
          </a:xfrm>
          <a:prstGeom prst="rect">
            <a:avLst/>
          </a:prstGeom>
        </p:spPr>
      </p:pic>
      <p:sp>
        <p:nvSpPr>
          <p:cNvPr id="4" name="Method note 1"/>
          <p:cNvSpPr/>
          <p:nvPr/>
        </p:nvSpPr>
        <p:spPr>
          <a:xfrm>
            <a:off x="548640" y="4114800"/>
            <a:ext cx="3566160" cy="2103120"/>
          </a:xfrm>
          <a:prstGeom prst="rect">
            <a:avLst/>
          </a:prstGeom>
          <a:solidFill>
            <a:schemeClr val="bg2"/>
          </a:solidFill>
          <a:ln w="6350">
            <a:solidFill>
              <a:schemeClr val="bg2"/>
            </a:solidFill>
            <a:prstDash val="solid"/>
          </a:ln>
        </p:spPr>
      </p:sp>
      <p:sp>
        <p:nvSpPr>
          <p:cNvPr id="5" name="Text 2"/>
          <p:cNvSpPr txBox="1"/>
          <p:nvPr/>
        </p:nvSpPr>
        <p:spPr>
          <a:xfrm>
            <a:off x="731520" y="4251960"/>
            <a:ext cx="3200400"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Leakage guarded</a:t>
            </a:r>
            <a:endParaRPr lang="en-US" sz="1700" dirty="0"/>
          </a:p>
        </p:txBody>
      </p:sp>
      <p:sp>
        <p:nvSpPr>
          <p:cNvPr id="6" name="Text 3"/>
          <p:cNvSpPr txBox="1"/>
          <p:nvPr/>
        </p:nvSpPr>
        <p:spPr>
          <a:xfrm>
            <a:off x="731520" y="4709160"/>
            <a:ext cx="3200400" cy="1463040"/>
          </a:xfrm>
          <a:prstGeom prst="rect">
            <a:avLst/>
          </a:prstGeom>
          <a:noFill/>
          <a:ln/>
        </p:spPr>
        <p:txBody>
          <a:bodyPr wrap="square" lIns="0" tIns="0" rIns="0" bIns="0" rtlCol="0" anchor="t"/>
          <a:lstStyle/>
          <a:p>
            <a:pPr marL="0" indent="0">
              <a:buNone/>
            </a:pPr>
            <a:r>
              <a:rPr lang="en-US" sz="1400" dirty="0">
                <a:solidFill>
                  <a:schemeClr val="tx1"/>
                </a:solidFill>
              </a:rPr>
              <a:t>Delay Status comes from DelayDays, so it was never a feature. Current-month warehouse delay (r = 0.85 with its target) was dropped.</a:t>
            </a:r>
            <a:endParaRPr lang="en-US" sz="1400" dirty="0"/>
          </a:p>
        </p:txBody>
      </p:sp>
      <p:sp>
        <p:nvSpPr>
          <p:cNvPr id="7" name="Method note 2"/>
          <p:cNvSpPr/>
          <p:nvPr/>
        </p:nvSpPr>
        <p:spPr>
          <a:xfrm>
            <a:off x="4297680" y="4114800"/>
            <a:ext cx="3566160" cy="2103120"/>
          </a:xfrm>
          <a:prstGeom prst="rect">
            <a:avLst/>
          </a:prstGeom>
          <a:solidFill>
            <a:schemeClr val="bg2"/>
          </a:solidFill>
          <a:ln w="6350">
            <a:solidFill>
              <a:schemeClr val="bg2"/>
            </a:solidFill>
            <a:prstDash val="solid"/>
          </a:ln>
        </p:spPr>
      </p:sp>
      <p:sp>
        <p:nvSpPr>
          <p:cNvPr id="8" name="Text 5"/>
          <p:cNvSpPr txBox="1"/>
          <p:nvPr/>
        </p:nvSpPr>
        <p:spPr>
          <a:xfrm>
            <a:off x="4480560" y="4251960"/>
            <a:ext cx="3200400"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Time-based splits</a:t>
            </a:r>
            <a:endParaRPr lang="en-US" sz="1700" dirty="0"/>
          </a:p>
        </p:txBody>
      </p:sp>
      <p:sp>
        <p:nvSpPr>
          <p:cNvPr id="9" name="Text 6"/>
          <p:cNvSpPr txBox="1"/>
          <p:nvPr/>
        </p:nvSpPr>
        <p:spPr>
          <a:xfrm>
            <a:off x="4480560" y="4709160"/>
            <a:ext cx="3200400" cy="1463040"/>
          </a:xfrm>
          <a:prstGeom prst="rect">
            <a:avLst/>
          </a:prstGeom>
          <a:noFill/>
          <a:ln/>
        </p:spPr>
        <p:txBody>
          <a:bodyPr wrap="square" lIns="0" tIns="0" rIns="0" bIns="0" rtlCol="0" anchor="t"/>
          <a:lstStyle/>
          <a:p>
            <a:pPr marL="0" indent="0">
              <a:buNone/>
            </a:pPr>
            <a:r>
              <a:rPr lang="en-US" sz="1400" dirty="0">
                <a:solidFill>
                  <a:schemeClr val="tx1"/>
                </a:solidFill>
              </a:rPr>
              <a:t>Train on earlier months, test on later ones. Customer value uses Jan to May behaviour to predict Jun to Aug spend.</a:t>
            </a:r>
            <a:endParaRPr lang="en-US" sz="1400" dirty="0"/>
          </a:p>
        </p:txBody>
      </p:sp>
      <p:sp>
        <p:nvSpPr>
          <p:cNvPr id="10" name="Method note 3"/>
          <p:cNvSpPr/>
          <p:nvPr/>
        </p:nvSpPr>
        <p:spPr>
          <a:xfrm>
            <a:off x="8046720" y="4114800"/>
            <a:ext cx="3566160" cy="2103120"/>
          </a:xfrm>
          <a:prstGeom prst="rect">
            <a:avLst/>
          </a:prstGeom>
          <a:solidFill>
            <a:schemeClr val="bg2"/>
          </a:solidFill>
          <a:ln w="6350">
            <a:solidFill>
              <a:schemeClr val="bg2"/>
            </a:solidFill>
            <a:prstDash val="solid"/>
          </a:ln>
        </p:spPr>
      </p:sp>
      <p:sp>
        <p:nvSpPr>
          <p:cNvPr id="11" name="Text 8"/>
          <p:cNvSpPr txBox="1"/>
          <p:nvPr/>
        </p:nvSpPr>
        <p:spPr>
          <a:xfrm>
            <a:off x="8229600" y="4251960"/>
            <a:ext cx="3200400"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Baselines first</a:t>
            </a:r>
            <a:endParaRPr lang="en-US" sz="1700" dirty="0"/>
          </a:p>
        </p:txBody>
      </p:sp>
      <p:sp>
        <p:nvSpPr>
          <p:cNvPr id="12" name="Text 9"/>
          <p:cNvSpPr txBox="1"/>
          <p:nvPr/>
        </p:nvSpPr>
        <p:spPr>
          <a:xfrm>
            <a:off x="8229600" y="4709160"/>
            <a:ext cx="3200400" cy="1463040"/>
          </a:xfrm>
          <a:prstGeom prst="rect">
            <a:avLst/>
          </a:prstGeom>
          <a:noFill/>
          <a:ln/>
        </p:spPr>
        <p:txBody>
          <a:bodyPr wrap="square" lIns="0" tIns="0" rIns="0" bIns="0" rtlCol="0" anchor="t"/>
          <a:lstStyle/>
          <a:p>
            <a:pPr marL="0" indent="0">
              <a:buNone/>
            </a:pPr>
            <a:r>
              <a:rPr lang="en-US" sz="1400" dirty="0">
                <a:solidFill>
                  <a:schemeClr val="tx1"/>
                </a:solidFill>
              </a:rPr>
              <a:t>Every model is compared with predicting the majority class or the average. A model must beat that to be useful.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EDA: no feature is strongly tied to any target</a:t>
            </a:r>
            <a:endParaRPr lang="en-US" sz="2800" dirty="0">
              <a:solidFill>
                <a:srgbClr val="FF6600"/>
              </a:solidFill>
            </a:endParaRPr>
          </a:p>
        </p:txBody>
      </p:sp>
      <p:graphicFrame>
        <p:nvGraphicFramePr>
          <p:cNvPr id="3" name="Chart 0"/>
          <p:cNvGraphicFramePr/>
          <p:nvPr/>
        </p:nvGraphicFramePr>
        <p:xfrm>
          <a:off x="548640" y="1463040"/>
          <a:ext cx="67665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EDA notes card"/>
          <p:cNvSpPr/>
          <p:nvPr/>
        </p:nvSpPr>
        <p:spPr>
          <a:xfrm>
            <a:off x="7680960" y="1463040"/>
            <a:ext cx="3931920" cy="4572000"/>
          </a:xfrm>
          <a:prstGeom prst="rect">
            <a:avLst/>
          </a:prstGeom>
          <a:solidFill>
            <a:schemeClr val="bg2"/>
          </a:solidFill>
          <a:ln w="6350">
            <a:solidFill>
              <a:schemeClr val="bg2"/>
            </a:solidFill>
            <a:prstDash val="solid"/>
          </a:ln>
        </p:spPr>
      </p:sp>
      <p:sp>
        <p:nvSpPr>
          <p:cNvPr id="5" name="Text 2"/>
          <p:cNvSpPr txBox="1"/>
          <p:nvPr/>
        </p:nvSpPr>
        <p:spPr>
          <a:xfrm>
            <a:off x="7909560" y="1645920"/>
            <a:ext cx="347472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What this means</a:t>
            </a:r>
            <a:endParaRPr lang="en-US" sz="1800" dirty="0"/>
          </a:p>
        </p:txBody>
      </p:sp>
      <p:sp>
        <p:nvSpPr>
          <p:cNvPr id="6" name="Text 3"/>
          <p:cNvSpPr txBox="1"/>
          <p:nvPr/>
        </p:nvSpPr>
        <p:spPr>
          <a:xfrm>
            <a:off x="7909560" y="2148840"/>
            <a:ext cx="347472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 value of 1 would be a perfect link; these are all close to 0.</a:t>
            </a:r>
            <a:endParaRPr lang="en-US" sz="1400" dirty="0"/>
          </a:p>
          <a:p>
            <a:pPr marL="342900" indent="-342900">
              <a:spcAft>
                <a:spcPts val="800"/>
              </a:spcAft>
              <a:buSzPct val="100000"/>
              <a:buChar char="•"/>
            </a:pPr>
            <a:r>
              <a:rPr lang="en-US" sz="1400" dirty="0">
                <a:solidFill>
                  <a:schemeClr val="tx1"/>
                </a:solidFill>
              </a:rPr>
              <a:t>Warehouse is highest, but from only 105 rows.</a:t>
            </a:r>
            <a:endParaRPr lang="en-US" sz="1400" dirty="0"/>
          </a:p>
          <a:p>
            <a:pPr marL="342900" indent="-342900">
              <a:spcAft>
                <a:spcPts val="800"/>
              </a:spcAft>
              <a:buSzPct val="100000"/>
              <a:buChar char="•"/>
            </a:pPr>
            <a:r>
              <a:rPr lang="en-US" sz="1400" dirty="0">
                <a:solidFill>
                  <a:schemeClr val="tx1"/>
                </a:solidFill>
              </a:rPr>
              <a:t>Caught a leak: current-month warehouse delay days (r = 0.85) would have looked great and been useless, so it was excluded.</a:t>
            </a:r>
            <a:endParaRPr lang="en-US" sz="1400" dirty="0"/>
          </a:p>
          <a:p>
            <a:pPr marL="342900" indent="-342900">
              <a:spcAft>
                <a:spcPts val="800"/>
              </a:spcAft>
              <a:buSzPct val="100000"/>
              <a:buChar char="•"/>
            </a:pPr>
            <a:r>
              <a:rPr lang="en-US" sz="1400" dirty="0">
                <a:solidFill>
                  <a:schemeClr val="tx1"/>
                </a:solidFill>
              </a:rPr>
              <a:t>Outliers were kept: at most 2.2% of values.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On unseen data, no model beats its baseline</a:t>
            </a:r>
            <a:endParaRPr lang="en-US" sz="2800" dirty="0">
              <a:solidFill>
                <a:srgbClr val="FF6600"/>
              </a:solidFill>
            </a:endParaRPr>
          </a:p>
        </p:txBody>
      </p:sp>
      <p:pic>
        <p:nvPicPr>
          <p:cNvPr id="3" name="Test vs baseline chart" descr="Test vs baseline chart"/>
          <p:cNvPicPr>
            <a:picLocks noChangeAspect="1"/>
          </p:cNvPicPr>
          <p:nvPr/>
        </p:nvPicPr>
        <p:blipFill>
          <a:blip r:embed="rId3"/>
          <a:stretch>
            <a:fillRect/>
          </a:stretch>
        </p:blipFill>
        <p:spPr>
          <a:xfrm>
            <a:off x="548640" y="1380363"/>
            <a:ext cx="11064240" cy="3411474"/>
          </a:xfrm>
          <a:prstGeom prst="rect">
            <a:avLst/>
          </a:prstGeom>
        </p:spPr>
      </p:pic>
      <p:sp>
        <p:nvSpPr>
          <p:cNvPr id="4" name="Text 1"/>
          <p:cNvSpPr txBox="1"/>
          <p:nvPr/>
        </p:nvSpPr>
        <p:spPr>
          <a:xfrm>
            <a:off x="548640" y="5029200"/>
            <a:ext cx="11064240" cy="1097280"/>
          </a:xfrm>
          <a:prstGeom prst="rect">
            <a:avLst/>
          </a:prstGeom>
          <a:noFill/>
          <a:ln/>
        </p:spPr>
        <p:txBody>
          <a:bodyPr wrap="square" lIns="0" tIns="0" rIns="0" bIns="0" rtlCol="0" anchor="t"/>
          <a:lstStyle/>
          <a:p>
            <a:pPr marL="0" indent="0">
              <a:buNone/>
            </a:pPr>
            <a:r>
              <a:rPr lang="en-US" sz="1800" dirty="0">
                <a:solidFill>
                  <a:schemeClr val="tx1"/>
                </a:solidFill>
              </a:rPr>
              <a:t>Tuned models match or trail the no-skill baseline on every problem. Delay AUC is 0.492 (0.5 is a coin flip). Demand, customer and warehouse R-squared are all at or below zero, which means no better than predicting the average.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Three algorithms per problem, no clear winner</a:t>
            </a:r>
            <a:endParaRPr lang="en-US" sz="2800" dirty="0">
              <a:solidFill>
                <a:srgbClr val="FF6600"/>
              </a:solidFill>
            </a:endParaRPr>
          </a:p>
        </p:txBody>
      </p:sp>
      <p:pic>
        <p:nvPicPr>
          <p:cNvPr id="3" name="Validation comparison chart" descr="Validation comparison chart"/>
          <p:cNvPicPr>
            <a:picLocks noChangeAspect="1"/>
          </p:cNvPicPr>
          <p:nvPr/>
        </p:nvPicPr>
        <p:blipFill>
          <a:blip r:embed="rId3"/>
          <a:stretch>
            <a:fillRect/>
          </a:stretch>
        </p:blipFill>
        <p:spPr>
          <a:xfrm>
            <a:off x="548640" y="1377579"/>
            <a:ext cx="11064240" cy="3234162"/>
          </a:xfrm>
          <a:prstGeom prst="rect">
            <a:avLst/>
          </a:prstGeom>
        </p:spPr>
      </p:pic>
      <p:sp>
        <p:nvSpPr>
          <p:cNvPr id="4" name="Text 1"/>
          <p:cNvSpPr txBox="1"/>
          <p:nvPr/>
        </p:nvSpPr>
        <p:spPr>
          <a:xfrm>
            <a:off x="548640" y="4846320"/>
            <a:ext cx="11064240" cy="1188720"/>
          </a:xfrm>
          <a:prstGeom prst="rect">
            <a:avLst/>
          </a:prstGeom>
          <a:noFill/>
          <a:ln/>
        </p:spPr>
        <p:txBody>
          <a:bodyPr wrap="square" lIns="0" tIns="0" rIns="0" bIns="0" rtlCol="0" anchor="t"/>
          <a:lstStyle/>
          <a:p>
            <a:pPr marL="0" indent="0">
              <a:buNone/>
            </a:pPr>
            <a:r>
              <a:rPr lang="en-US" sz="1800" dirty="0">
                <a:solidFill>
                  <a:schemeClr val="tx1"/>
                </a:solidFill>
              </a:rPr>
              <a:t>Cross-validated scores for all three algorithms sit within noise of the baseline. Delay CV AUC was 0.513 plus or minus 0.023, about 0.6 standard errors from chance. Warehouse RMSE is 0.072 for all three.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Is it just chance? </a:t>
            </a:r>
            <a:endParaRPr lang="en-US" sz="2800" dirty="0">
              <a:solidFill>
                <a:srgbClr val="FF6600"/>
              </a:solidFill>
            </a:endParaRPr>
          </a:p>
        </p:txBody>
      </p:sp>
      <p:pic>
        <p:nvPicPr>
          <p:cNvPr id="3" name="Shuffle test chart" descr="Shuffle test chart"/>
          <p:cNvPicPr>
            <a:picLocks noChangeAspect="1"/>
          </p:cNvPicPr>
          <p:nvPr/>
        </p:nvPicPr>
        <p:blipFill>
          <a:blip r:embed="rId3"/>
          <a:stretch>
            <a:fillRect/>
          </a:stretch>
        </p:blipFill>
        <p:spPr>
          <a:xfrm>
            <a:off x="594360" y="1280160"/>
            <a:ext cx="10972800" cy="3383280"/>
          </a:xfrm>
          <a:prstGeom prst="rect">
            <a:avLst/>
          </a:prstGeom>
        </p:spPr>
      </p:pic>
      <p:sp>
        <p:nvSpPr>
          <p:cNvPr id="4" name="Text 1"/>
          <p:cNvSpPr txBox="1"/>
          <p:nvPr/>
        </p:nvSpPr>
        <p:spPr>
          <a:xfrm>
            <a:off x="548640" y="4846320"/>
            <a:ext cx="5486400" cy="1371600"/>
          </a:xfrm>
          <a:prstGeom prst="rect">
            <a:avLst/>
          </a:prstGeom>
          <a:noFill/>
          <a:ln/>
        </p:spPr>
        <p:txBody>
          <a:bodyPr wrap="square" lIns="0" tIns="0" rIns="0" bIns="0" rtlCol="0" anchor="t"/>
          <a:lstStyle/>
          <a:p>
            <a:pPr marL="0" indent="0">
              <a:buNone/>
            </a:pPr>
            <a:r>
              <a:rPr lang="en-US" sz="1500" dirty="0">
                <a:solidFill>
                  <a:schemeClr val="tx1"/>
                </a:solidFill>
              </a:rPr>
              <a:t>We shuffled the real answers 1,000 times. The model's real score is not better than what shuffling produces: p = 0.64 (delay), 0.36 (demand), 0.48 (customer), 0.40 (warehouse). A result needs p below 0.05 to count as real signal.</a:t>
            </a:r>
            <a:endParaRPr lang="en-US" sz="1500" dirty="0"/>
          </a:p>
        </p:txBody>
      </p:sp>
      <p:sp>
        <p:nvSpPr>
          <p:cNvPr id="5" name="Text 2"/>
          <p:cNvSpPr txBox="1"/>
          <p:nvPr/>
        </p:nvSpPr>
        <p:spPr>
          <a:xfrm>
            <a:off x="6309360" y="4846320"/>
            <a:ext cx="5303520" cy="1371600"/>
          </a:xfrm>
          <a:prstGeom prst="rect">
            <a:avLst/>
          </a:prstGeom>
          <a:noFill/>
          <a:ln/>
        </p:spPr>
        <p:txBody>
          <a:bodyPr wrap="square" lIns="0" tIns="0" rIns="0" bIns="0" rtlCol="0" anchor="t"/>
          <a:lstStyle/>
          <a:p>
            <a:pPr marL="0" indent="0">
              <a:buNone/>
            </a:pPr>
            <a:r>
              <a:rPr lang="en-US" sz="1500" dirty="0">
                <a:solidFill>
                  <a:schemeClr val="tx1"/>
                </a:solidFill>
              </a:rPr>
              <a:t>The delay model labelled 490 of 491 delayed shipments correctly but found only 1 of 259 on-time shipments: it effectively says 'Delayed' for everything. Accuracy by warehouse (0.56 to 0.82) is noise on small groups.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rgbClr val="FF6600"/>
                </a:solidFill>
                <a:latin typeface="Cambria" pitchFamily="34" charset="0"/>
                <a:ea typeface="Cambria" pitchFamily="34" charset="-122"/>
                <a:cs typeface="Cambria" pitchFamily="34" charset="-120"/>
              </a:rPr>
              <a:t>What the models rely on is small and unstable</a:t>
            </a:r>
            <a:endParaRPr lang="en-US" sz="2800" dirty="0">
              <a:solidFill>
                <a:srgbClr val="FF6600"/>
              </a:solidFill>
            </a:endParaRPr>
          </a:p>
        </p:txBody>
      </p:sp>
      <p:sp>
        <p:nvSpPr>
          <p:cNvPr id="3" name="Stat card importance"/>
          <p:cNvSpPr/>
          <p:nvPr/>
        </p:nvSpPr>
        <p:spPr>
          <a:xfrm>
            <a:off x="548640" y="1463040"/>
            <a:ext cx="3566160" cy="4480560"/>
          </a:xfrm>
          <a:prstGeom prst="rect">
            <a:avLst/>
          </a:prstGeom>
          <a:solidFill>
            <a:schemeClr val="bg2"/>
          </a:solidFill>
          <a:ln w="6350">
            <a:solidFill>
              <a:schemeClr val="bg2"/>
            </a:solidFill>
            <a:prstDash val="solid"/>
          </a:ln>
        </p:spPr>
      </p:sp>
      <p:sp>
        <p:nvSpPr>
          <p:cNvPr id="4" name="Text 2"/>
          <p:cNvSpPr txBox="1"/>
          <p:nvPr/>
        </p:nvSpPr>
        <p:spPr>
          <a:xfrm>
            <a:off x="777240" y="1737360"/>
            <a:ext cx="3108960" cy="914400"/>
          </a:xfrm>
          <a:prstGeom prst="rect">
            <a:avLst/>
          </a:prstGeom>
          <a:noFill/>
          <a:ln/>
        </p:spPr>
        <p:txBody>
          <a:bodyPr wrap="square" lIns="0" tIns="0" rIns="0" bIns="0" rtlCol="0" anchor="t"/>
          <a:lstStyle/>
          <a:p>
            <a:pPr marL="0" indent="0">
              <a:buNone/>
            </a:pPr>
            <a:r>
              <a:rPr lang="en-US" sz="5600" b="1" dirty="0">
                <a:solidFill>
                  <a:schemeClr val="accent2"/>
                </a:solidFill>
                <a:latin typeface="Cambria" pitchFamily="34" charset="0"/>
                <a:ea typeface="Cambria" pitchFamily="34" charset="-122"/>
                <a:cs typeface="Cambria" pitchFamily="34" charset="-120"/>
              </a:rPr>
              <a:t>2 of 45</a:t>
            </a:r>
            <a:endParaRPr lang="en-US" sz="5600" dirty="0"/>
          </a:p>
        </p:txBody>
      </p:sp>
      <p:sp>
        <p:nvSpPr>
          <p:cNvPr id="5" name="Text 3"/>
          <p:cNvSpPr txBox="1"/>
          <p:nvPr/>
        </p:nvSpPr>
        <p:spPr>
          <a:xfrm>
            <a:off x="777240" y="2834640"/>
            <a:ext cx="3108960" cy="1645920"/>
          </a:xfrm>
          <a:prstGeom prst="rect">
            <a:avLst/>
          </a:prstGeom>
          <a:noFill/>
          <a:ln/>
        </p:spPr>
        <p:txBody>
          <a:bodyPr wrap="square" lIns="0" tIns="0" rIns="0" bIns="0" rtlCol="0" anchor="t"/>
          <a:lstStyle/>
          <a:p>
            <a:pPr marL="0" indent="0">
              <a:buNone/>
            </a:pPr>
            <a:r>
              <a:rPr lang="en-US" sz="1600" dirty="0">
                <a:solidFill>
                  <a:schemeClr val="tx1"/>
                </a:solidFill>
              </a:rPr>
              <a:t>features were clearly above zero in permutation importance (customer value only: n_cancelled and n_orders_all).</a:t>
            </a:r>
            <a:endParaRPr lang="en-US" sz="1600" dirty="0"/>
          </a:p>
        </p:txBody>
      </p:sp>
      <p:sp>
        <p:nvSpPr>
          <p:cNvPr id="6" name="Text 4"/>
          <p:cNvSpPr txBox="1"/>
          <p:nvPr/>
        </p:nvSpPr>
        <p:spPr>
          <a:xfrm>
            <a:off x="777240" y="4754880"/>
            <a:ext cx="3108960" cy="822960"/>
          </a:xfrm>
          <a:prstGeom prst="rect">
            <a:avLst/>
          </a:prstGeom>
          <a:noFill/>
          <a:ln/>
        </p:spPr>
        <p:txBody>
          <a:bodyPr wrap="square" lIns="0" tIns="0" rIns="0" bIns="0" rtlCol="0" anchor="t"/>
          <a:lstStyle/>
          <a:p>
            <a:pPr marL="0" indent="0">
              <a:buNone/>
            </a:pPr>
            <a:r>
              <a:rPr lang="en-US" sz="1400" dirty="0">
                <a:solidFill>
                  <a:schemeClr val="tx2"/>
                </a:solidFill>
              </a:rPr>
              <a:t>Delay 0 of 13, demand 0 of 8, warehouse 0 of 9.</a:t>
            </a:r>
            <a:endParaRPr lang="en-US" sz="1400" dirty="0"/>
          </a:p>
        </p:txBody>
      </p:sp>
      <p:sp>
        <p:nvSpPr>
          <p:cNvPr id="7" name="Text 5"/>
          <p:cNvSpPr txBox="1"/>
          <p:nvPr/>
        </p:nvSpPr>
        <p:spPr>
          <a:xfrm>
            <a:off x="4572000" y="1554480"/>
            <a:ext cx="704088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Top SHAP drivers (average contribution)</a:t>
            </a:r>
            <a:endParaRPr lang="en-US" sz="1800" dirty="0"/>
          </a:p>
        </p:txBody>
      </p:sp>
      <p:sp>
        <p:nvSpPr>
          <p:cNvPr id="8" name="Text 6"/>
          <p:cNvSpPr txBox="1"/>
          <p:nvPr/>
        </p:nvSpPr>
        <p:spPr>
          <a:xfrm>
            <a:off x="4572000" y="2011680"/>
            <a:ext cx="704088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Delay: order_value 0.20, total_qty 0.13, order_dow 0.07</a:t>
            </a:r>
            <a:endParaRPr lang="en-US" sz="1600" dirty="0"/>
          </a:p>
          <a:p>
            <a:pPr marL="342900" indent="-342900">
              <a:spcAft>
                <a:spcPts val="1000"/>
              </a:spcAft>
              <a:buSzPct val="100000"/>
              <a:buChar char="•"/>
            </a:pPr>
            <a:r>
              <a:rPr lang="en-US" sz="1600" dirty="0">
                <a:solidFill>
                  <a:schemeClr val="tx1"/>
                </a:solidFill>
              </a:rPr>
              <a:t>Demand: UnitPrice 0.42, total_stock 0.37, Category_Fashion 0.12</a:t>
            </a:r>
            <a:endParaRPr lang="en-US" sz="1600" dirty="0"/>
          </a:p>
          <a:p>
            <a:pPr marL="342900" indent="-342900">
              <a:spcAft>
                <a:spcPts val="1000"/>
              </a:spcAft>
              <a:buSzPct val="100000"/>
              <a:buChar char="•"/>
            </a:pPr>
            <a:r>
              <a:rPr lang="en-US" sz="1600" dirty="0">
                <a:solidFill>
                  <a:schemeClr val="tx1"/>
                </a:solidFill>
              </a:rPr>
              <a:t>Customer: share_Food 504, total_spend 463, tenure_days 318 (permutation and SHAP disagree)</a:t>
            </a:r>
            <a:endParaRPr lang="en-US" sz="1600" dirty="0"/>
          </a:p>
          <a:p>
            <a:pPr marL="342900" indent="-342900">
              <a:spcAft>
                <a:spcPts val="1000"/>
              </a:spcAft>
              <a:buSzPct val="100000"/>
              <a:buChar char="•"/>
            </a:pPr>
            <a:r>
              <a:rPr lang="en-US" sz="1600" dirty="0">
                <a:solidFill>
                  <a:schemeClr val="tx1"/>
                </a:solidFill>
              </a:rPr>
              <a:t>Warehouse: lag_avg_delay_days, n_low_stock, WarehouseCity_Kano (about plus or minus 0.02)</a:t>
            </a:r>
            <a:endParaRPr lang="en-US" sz="1600" dirty="0"/>
          </a:p>
        </p:txBody>
      </p:sp>
      <p:sp>
        <p:nvSpPr>
          <p:cNvPr id="9" name="Text 7"/>
          <p:cNvSpPr txBox="1"/>
          <p:nvPr/>
        </p:nvSpPr>
        <p:spPr>
          <a:xfrm>
            <a:off x="4572000" y="4937760"/>
            <a:ext cx="7040880" cy="1005840"/>
          </a:xfrm>
          <a:prstGeom prst="rect">
            <a:avLst/>
          </a:prstGeom>
          <a:noFill/>
          <a:ln/>
        </p:spPr>
        <p:txBody>
          <a:bodyPr wrap="square" lIns="0" tIns="0" rIns="0" bIns="0" rtlCol="0" anchor="t"/>
          <a:lstStyle/>
          <a:p>
            <a:pPr marL="0" indent="0">
              <a:buNone/>
            </a:pPr>
            <a:r>
              <a:rPr lang="en-US" sz="1600" b="1" dirty="0">
                <a:solidFill>
                  <a:schemeClr val="tx1">
                    <a:lumMod val="50000"/>
                    <a:lumOff val="50000"/>
                  </a:schemeClr>
                </a:solidFill>
              </a:rPr>
              <a:t>A model that is not better than chance will still rank features. These rankings describe the model, not the world, and must not be read as causes.</a:t>
            </a:r>
            <a:endParaRPr lang="en-US" sz="1600" dirty="0">
              <a:solidFill>
                <a:schemeClr val="tx1">
                  <a:lumMod val="50000"/>
                  <a:lumOff val="50000"/>
                </a:schemeClr>
              </a:solidFill>
            </a:endParaRPr>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chemeClr val="accent2"/>
                </a:solidFill>
                <a:latin typeface="Cambria" pitchFamily="34" charset="0"/>
                <a:ea typeface="Cambria" pitchFamily="34" charset="-122"/>
                <a:cs typeface="Cambria" pitchFamily="34" charset="-120"/>
              </a:rPr>
              <a:t>What the data shows without any model</a:t>
            </a:r>
            <a:endParaRPr lang="en-US" sz="2800" dirty="0">
              <a:solidFill>
                <a:schemeClr val="accent2"/>
              </a:solidFill>
            </a:endParaRPr>
          </a:p>
        </p:txBody>
      </p:sp>
      <p:sp>
        <p:nvSpPr>
          <p:cNvPr id="3" name="Finding card 1"/>
          <p:cNvSpPr/>
          <p:nvPr/>
        </p:nvSpPr>
        <p:spPr>
          <a:xfrm>
            <a:off x="548640" y="1463040"/>
            <a:ext cx="3566160" cy="2286000"/>
          </a:xfrm>
          <a:prstGeom prst="rect">
            <a:avLst/>
          </a:prstGeom>
          <a:solidFill>
            <a:schemeClr val="bg2"/>
          </a:solidFill>
          <a:ln w="6350">
            <a:solidFill>
              <a:schemeClr val="bg2"/>
            </a:solidFill>
            <a:prstDash val="solid"/>
          </a:ln>
        </p:spPr>
      </p:sp>
      <p:sp>
        <p:nvSpPr>
          <p:cNvPr id="4" name="Text 2"/>
          <p:cNvSpPr txBox="1"/>
          <p:nvPr/>
        </p:nvSpPr>
        <p:spPr>
          <a:xfrm>
            <a:off x="731520" y="164592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Pending backlog</a:t>
            </a:r>
            <a:endParaRPr lang="en-US" sz="1800" dirty="0"/>
          </a:p>
        </p:txBody>
      </p:sp>
      <p:sp>
        <p:nvSpPr>
          <p:cNvPr id="5" name="Text 3"/>
          <p:cNvSpPr txBox="1"/>
          <p:nvPr/>
        </p:nvSpPr>
        <p:spPr>
          <a:xfrm>
            <a:off x="731520" y="2148840"/>
            <a:ext cx="3200400" cy="1463040"/>
          </a:xfrm>
          <a:prstGeom prst="rect">
            <a:avLst/>
          </a:prstGeom>
          <a:noFill/>
          <a:ln/>
        </p:spPr>
        <p:txBody>
          <a:bodyPr wrap="square" lIns="0" tIns="0" rIns="0" bIns="0" rtlCol="0" anchor="t"/>
          <a:lstStyle/>
          <a:p>
            <a:pPr marL="0" indent="0">
              <a:buNone/>
            </a:pPr>
            <a:r>
              <a:rPr lang="en-US" sz="1500" dirty="0">
                <a:solidFill>
                  <a:schemeClr val="tx1"/>
                </a:solidFill>
              </a:rPr>
              <a:t>1,716 orders are Pending; 87.8% are older than 30 days and 63.5% older than 90 days.</a:t>
            </a:r>
            <a:endParaRPr lang="en-US" sz="1500" dirty="0"/>
          </a:p>
        </p:txBody>
      </p:sp>
      <p:sp>
        <p:nvSpPr>
          <p:cNvPr id="6" name="Finding card 2"/>
          <p:cNvSpPr/>
          <p:nvPr/>
        </p:nvSpPr>
        <p:spPr>
          <a:xfrm>
            <a:off x="4297680" y="1463040"/>
            <a:ext cx="3566160" cy="2286000"/>
          </a:xfrm>
          <a:prstGeom prst="rect">
            <a:avLst/>
          </a:prstGeom>
          <a:solidFill>
            <a:schemeClr val="bg2"/>
          </a:solidFill>
          <a:ln w="6350">
            <a:solidFill>
              <a:schemeClr val="bg2"/>
            </a:solidFill>
            <a:prstDash val="solid"/>
          </a:ln>
        </p:spPr>
      </p:sp>
      <p:sp>
        <p:nvSpPr>
          <p:cNvPr id="7" name="Text 5"/>
          <p:cNvSpPr txBox="1"/>
          <p:nvPr/>
        </p:nvSpPr>
        <p:spPr>
          <a:xfrm>
            <a:off x="4480560" y="164592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Cancelled orders still ship</a:t>
            </a:r>
            <a:endParaRPr lang="en-US" sz="1800" dirty="0"/>
          </a:p>
        </p:txBody>
      </p:sp>
      <p:sp>
        <p:nvSpPr>
          <p:cNvPr id="8" name="Text 6"/>
          <p:cNvSpPr txBox="1"/>
          <p:nvPr/>
        </p:nvSpPr>
        <p:spPr>
          <a:xfrm>
            <a:off x="4480560" y="2148840"/>
            <a:ext cx="3200400" cy="1463040"/>
          </a:xfrm>
          <a:prstGeom prst="rect">
            <a:avLst/>
          </a:prstGeom>
          <a:noFill/>
          <a:ln/>
        </p:spPr>
        <p:txBody>
          <a:bodyPr wrap="square" lIns="0" tIns="0" rIns="0" bIns="0" rtlCol="0" anchor="t"/>
          <a:lstStyle/>
          <a:p>
            <a:pPr marL="0" indent="0">
              <a:buNone/>
            </a:pPr>
            <a:r>
              <a:rPr lang="en-US" sz="1500" dirty="0">
                <a:solidFill>
                  <a:schemeClr val="tx1"/>
                </a:solidFill>
              </a:rPr>
              <a:t>All 1,626 cancelled orders have a shipment, and 64.5% of those are labelled Delayed.</a:t>
            </a:r>
            <a:endParaRPr lang="en-US" sz="1500" dirty="0"/>
          </a:p>
        </p:txBody>
      </p:sp>
      <p:sp>
        <p:nvSpPr>
          <p:cNvPr id="9" name="Finding card 3"/>
          <p:cNvSpPr/>
          <p:nvPr/>
        </p:nvSpPr>
        <p:spPr>
          <a:xfrm>
            <a:off x="8046720" y="1463040"/>
            <a:ext cx="3566160" cy="2286000"/>
          </a:xfrm>
          <a:prstGeom prst="rect">
            <a:avLst/>
          </a:prstGeom>
          <a:solidFill>
            <a:schemeClr val="bg2"/>
          </a:solidFill>
          <a:ln w="6350">
            <a:solidFill>
              <a:schemeClr val="bg2"/>
            </a:solidFill>
            <a:prstDash val="solid"/>
          </a:ln>
        </p:spPr>
      </p:sp>
      <p:sp>
        <p:nvSpPr>
          <p:cNvPr id="10" name="Text 8"/>
          <p:cNvSpPr txBox="1"/>
          <p:nvPr/>
        </p:nvSpPr>
        <p:spPr>
          <a:xfrm>
            <a:off x="8229600" y="164592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Network mismatch</a:t>
            </a:r>
            <a:endParaRPr lang="en-US" sz="1800" dirty="0"/>
          </a:p>
        </p:txBody>
      </p:sp>
      <p:sp>
        <p:nvSpPr>
          <p:cNvPr id="11" name="Text 9"/>
          <p:cNvSpPr txBox="1"/>
          <p:nvPr/>
        </p:nvSpPr>
        <p:spPr>
          <a:xfrm>
            <a:off x="8229600" y="2148840"/>
            <a:ext cx="3200400" cy="1463040"/>
          </a:xfrm>
          <a:prstGeom prst="rect">
            <a:avLst/>
          </a:prstGeom>
          <a:noFill/>
          <a:ln/>
        </p:spPr>
        <p:txBody>
          <a:bodyPr wrap="square" lIns="0" tIns="0" rIns="0" bIns="0" rtlCol="0" anchor="t"/>
          <a:lstStyle/>
          <a:p>
            <a:pPr marL="0" indent="0">
              <a:buNone/>
            </a:pPr>
            <a:r>
              <a:rPr lang="en-US" sz="1500" dirty="0">
                <a:solidFill>
                  <a:schemeClr val="tx1"/>
                </a:solidFill>
              </a:rPr>
              <a:t>75.1% of shipments are cross-city. Lagos holds 53.4% of stock; Ibadan has no warehouse.</a:t>
            </a:r>
            <a:endParaRPr lang="en-US" sz="1500" dirty="0"/>
          </a:p>
        </p:txBody>
      </p:sp>
      <p:sp>
        <p:nvSpPr>
          <p:cNvPr id="12" name="Finding card 4"/>
          <p:cNvSpPr/>
          <p:nvPr/>
        </p:nvSpPr>
        <p:spPr>
          <a:xfrm>
            <a:off x="548640" y="3931920"/>
            <a:ext cx="3566160" cy="2286000"/>
          </a:xfrm>
          <a:prstGeom prst="rect">
            <a:avLst/>
          </a:prstGeom>
          <a:solidFill>
            <a:schemeClr val="bg2"/>
          </a:solidFill>
          <a:ln w="6350">
            <a:solidFill>
              <a:schemeClr val="bg2"/>
            </a:solidFill>
            <a:prstDash val="solid"/>
          </a:ln>
        </p:spPr>
      </p:sp>
      <p:sp>
        <p:nvSpPr>
          <p:cNvPr id="13" name="Text 11"/>
          <p:cNvSpPr txBox="1"/>
          <p:nvPr/>
        </p:nvSpPr>
        <p:spPr>
          <a:xfrm>
            <a:off x="731520" y="411480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Overstock, thin spots</a:t>
            </a:r>
            <a:endParaRPr lang="en-US" sz="1800" dirty="0"/>
          </a:p>
        </p:txBody>
      </p:sp>
      <p:sp>
        <p:nvSpPr>
          <p:cNvPr id="14" name="Text 12"/>
          <p:cNvSpPr txBox="1"/>
          <p:nvPr/>
        </p:nvSpPr>
        <p:spPr>
          <a:xfrm>
            <a:off x="731520" y="4617720"/>
            <a:ext cx="3200400" cy="1463040"/>
          </a:xfrm>
          <a:prstGeom prst="rect">
            <a:avLst/>
          </a:prstGeom>
          <a:noFill/>
          <a:ln/>
        </p:spPr>
        <p:txBody>
          <a:bodyPr wrap="square" lIns="0" tIns="0" rIns="0" bIns="0" rtlCol="0" anchor="t"/>
          <a:lstStyle/>
          <a:p>
            <a:pPr marL="0" indent="0">
              <a:buNone/>
            </a:pPr>
            <a:r>
              <a:rPr lang="en-US" sz="1500" dirty="0">
                <a:solidFill>
                  <a:schemeClr val="tx1"/>
                </a:solidFill>
              </a:rPr>
              <a:t>About 150 months of cover overall, yet 142 of 2,455 warehouse-product pairs hold under 50 units (3 are zero).</a:t>
            </a:r>
            <a:endParaRPr lang="en-US" sz="1500" dirty="0"/>
          </a:p>
        </p:txBody>
      </p:sp>
      <p:sp>
        <p:nvSpPr>
          <p:cNvPr id="15" name="Finding card 5"/>
          <p:cNvSpPr/>
          <p:nvPr/>
        </p:nvSpPr>
        <p:spPr>
          <a:xfrm>
            <a:off x="4297680" y="3931920"/>
            <a:ext cx="3566160" cy="2286000"/>
          </a:xfrm>
          <a:prstGeom prst="rect">
            <a:avLst/>
          </a:prstGeom>
          <a:solidFill>
            <a:schemeClr val="bg2"/>
          </a:solidFill>
          <a:ln w="6350">
            <a:solidFill>
              <a:schemeClr val="bg2"/>
            </a:solidFill>
            <a:prstDash val="solid"/>
          </a:ln>
        </p:spPr>
      </p:sp>
      <p:sp>
        <p:nvSpPr>
          <p:cNvPr id="16" name="Text 14"/>
          <p:cNvSpPr txBox="1"/>
          <p:nvPr/>
        </p:nvSpPr>
        <p:spPr>
          <a:xfrm>
            <a:off x="4480560" y="411480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Customer concentration</a:t>
            </a:r>
            <a:endParaRPr lang="en-US" sz="1800" dirty="0"/>
          </a:p>
        </p:txBody>
      </p:sp>
      <p:sp>
        <p:nvSpPr>
          <p:cNvPr id="17" name="Text 15"/>
          <p:cNvSpPr txBox="1"/>
          <p:nvPr/>
        </p:nvSpPr>
        <p:spPr>
          <a:xfrm>
            <a:off x="4480560" y="4617720"/>
            <a:ext cx="3200400" cy="1463040"/>
          </a:xfrm>
          <a:prstGeom prst="rect">
            <a:avLst/>
          </a:prstGeom>
          <a:noFill/>
          <a:ln/>
        </p:spPr>
        <p:txBody>
          <a:bodyPr wrap="square" lIns="0" tIns="0" rIns="0" bIns="0" rtlCol="0" anchor="t"/>
          <a:lstStyle/>
          <a:p>
            <a:pPr marL="0" indent="0">
              <a:buNone/>
            </a:pPr>
            <a:r>
              <a:rPr lang="en-US" sz="1500" dirty="0">
                <a:solidFill>
                  <a:schemeClr val="tx1"/>
                </a:solidFill>
              </a:rPr>
              <a:t>The top 10% of customers hold 23.9% of value, and 29.5% had no spend from June to August.</a:t>
            </a:r>
            <a:endParaRPr lang="en-US" sz="1500" dirty="0"/>
          </a:p>
        </p:txBody>
      </p:sp>
      <p:sp>
        <p:nvSpPr>
          <p:cNvPr id="18" name="Finding card 6"/>
          <p:cNvSpPr/>
          <p:nvPr/>
        </p:nvSpPr>
        <p:spPr>
          <a:xfrm>
            <a:off x="8046720" y="3931920"/>
            <a:ext cx="3566160" cy="2286000"/>
          </a:xfrm>
          <a:prstGeom prst="rect">
            <a:avLst/>
          </a:prstGeom>
          <a:solidFill>
            <a:schemeClr val="bg2"/>
          </a:solidFill>
          <a:ln w="6350">
            <a:solidFill>
              <a:schemeClr val="bg2"/>
            </a:solidFill>
            <a:prstDash val="solid"/>
          </a:ln>
        </p:spPr>
      </p:sp>
      <p:sp>
        <p:nvSpPr>
          <p:cNvPr id="19" name="Text 17"/>
          <p:cNvSpPr txBox="1"/>
          <p:nvPr/>
        </p:nvSpPr>
        <p:spPr>
          <a:xfrm>
            <a:off x="8229600" y="411480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Data gaps</a:t>
            </a:r>
            <a:endParaRPr lang="en-US" sz="1800" dirty="0"/>
          </a:p>
        </p:txBody>
      </p:sp>
      <p:sp>
        <p:nvSpPr>
          <p:cNvPr id="20" name="Text 18"/>
          <p:cNvSpPr txBox="1"/>
          <p:nvPr/>
        </p:nvSpPr>
        <p:spPr>
          <a:xfrm>
            <a:off x="8229600" y="4617720"/>
            <a:ext cx="3200400" cy="1463040"/>
          </a:xfrm>
          <a:prstGeom prst="rect">
            <a:avLst/>
          </a:prstGeom>
          <a:noFill/>
          <a:ln/>
        </p:spPr>
        <p:txBody>
          <a:bodyPr wrap="square" lIns="0" tIns="0" rIns="0" bIns="0" rtlCol="0" anchor="t"/>
          <a:lstStyle/>
          <a:p>
            <a:pPr marL="0" indent="0">
              <a:buNone/>
            </a:pPr>
            <a:r>
              <a:rPr lang="en-US" sz="1500" dirty="0">
                <a:solidFill>
                  <a:schemeClr val="tx1"/>
                </a:solidFill>
              </a:rPr>
              <a:t>236 orders have no items, and no table links suppliers to shipments or products.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chemeClr val="accent2"/>
                </a:solidFill>
                <a:latin typeface="Cambria" pitchFamily="34" charset="0"/>
                <a:ea typeface="Cambria" pitchFamily="34" charset="-122"/>
                <a:cs typeface="Cambria" pitchFamily="34" charset="-120"/>
              </a:rPr>
              <a:t>Recommendations 1 to 6: fix the operation</a:t>
            </a:r>
            <a:endParaRPr lang="en-US" sz="2800" dirty="0">
              <a:solidFill>
                <a:schemeClr val="accent2"/>
              </a:solidFill>
            </a:endParaRPr>
          </a:p>
        </p:txBody>
      </p:sp>
      <p:sp>
        <p:nvSpPr>
          <p:cNvPr id="3" name="A rec 1"/>
          <p:cNvSpPr/>
          <p:nvPr/>
        </p:nvSpPr>
        <p:spPr>
          <a:xfrm>
            <a:off x="548640" y="1463040"/>
            <a:ext cx="5440680" cy="1463040"/>
          </a:xfrm>
          <a:prstGeom prst="rect">
            <a:avLst/>
          </a:prstGeom>
          <a:solidFill>
            <a:schemeClr val="bg2"/>
          </a:solidFill>
          <a:ln w="6350">
            <a:solidFill>
              <a:schemeClr val="bg2"/>
            </a:solidFill>
            <a:prstDash val="solid"/>
          </a:ln>
        </p:spPr>
      </p:sp>
      <p:sp>
        <p:nvSpPr>
          <p:cNvPr id="4" name="Text 2"/>
          <p:cNvSpPr txBox="1"/>
          <p:nvPr/>
        </p:nvSpPr>
        <p:spPr>
          <a:xfrm>
            <a:off x="685800" y="15727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188720" y="15727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Make on-time delivery a tracked headline KPI</a:t>
            </a:r>
            <a:endParaRPr lang="en-US" sz="1400" dirty="0"/>
          </a:p>
        </p:txBody>
      </p:sp>
      <p:sp>
        <p:nvSpPr>
          <p:cNvPr id="6" name="Text 4"/>
          <p:cNvSpPr txBox="1"/>
          <p:nvPr/>
        </p:nvSpPr>
        <p:spPr>
          <a:xfrm>
            <a:off x="1188720" y="2084832"/>
            <a:ext cx="4663440" cy="566928"/>
          </a:xfrm>
          <a:prstGeom prst="rect">
            <a:avLst/>
          </a:prstGeom>
          <a:noFill/>
          <a:ln/>
        </p:spPr>
        <p:txBody>
          <a:bodyPr wrap="square" lIns="0" tIns="0" rIns="0" bIns="0" rtlCol="0" anchor="t"/>
          <a:lstStyle/>
          <a:p>
            <a:pPr marL="0" indent="0">
              <a:buNone/>
            </a:pPr>
            <a:r>
              <a:rPr lang="en-US" sz="1100" dirty="0">
                <a:solidFill>
                  <a:schemeClr val="tx1"/>
                </a:solidFill>
              </a:rPr>
              <a:t>Report the delayed share weekly by warehouse and city, and set a service target (suggested: below 40% within two quarters).</a:t>
            </a:r>
            <a:endParaRPr lang="en-US" sz="1100" dirty="0"/>
          </a:p>
        </p:txBody>
      </p:sp>
      <p:sp>
        <p:nvSpPr>
          <p:cNvPr id="7" name="Text 5"/>
          <p:cNvSpPr txBox="1"/>
          <p:nvPr/>
        </p:nvSpPr>
        <p:spPr>
          <a:xfrm>
            <a:off x="1188720" y="26883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Delayed share, mean delay days  |  0 to 3 months</a:t>
            </a:r>
            <a:endParaRPr lang="en-US" sz="1050" dirty="0"/>
          </a:p>
        </p:txBody>
      </p:sp>
      <p:sp>
        <p:nvSpPr>
          <p:cNvPr id="8" name="A rec 2"/>
          <p:cNvSpPr/>
          <p:nvPr/>
        </p:nvSpPr>
        <p:spPr>
          <a:xfrm>
            <a:off x="6172200" y="1463040"/>
            <a:ext cx="5440680" cy="1463040"/>
          </a:xfrm>
          <a:prstGeom prst="rect">
            <a:avLst/>
          </a:prstGeom>
          <a:solidFill>
            <a:schemeClr val="bg2"/>
          </a:solidFill>
          <a:ln w="6350">
            <a:solidFill>
              <a:schemeClr val="bg2"/>
            </a:solidFill>
            <a:prstDash val="solid"/>
          </a:ln>
        </p:spPr>
      </p:sp>
      <p:sp>
        <p:nvSpPr>
          <p:cNvPr id="9" name="Text 7"/>
          <p:cNvSpPr txBox="1"/>
          <p:nvPr/>
        </p:nvSpPr>
        <p:spPr>
          <a:xfrm>
            <a:off x="6309360" y="15727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6812280" y="15727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Record the data that could explain delays</a:t>
            </a:r>
            <a:endParaRPr lang="en-US" sz="1400" dirty="0"/>
          </a:p>
        </p:txBody>
      </p:sp>
      <p:sp>
        <p:nvSpPr>
          <p:cNvPr id="11" name="Text 9"/>
          <p:cNvSpPr txBox="1"/>
          <p:nvPr/>
        </p:nvSpPr>
        <p:spPr>
          <a:xfrm>
            <a:off x="6812280" y="2084832"/>
            <a:ext cx="4663440" cy="566928"/>
          </a:xfrm>
          <a:prstGeom prst="rect">
            <a:avLst/>
          </a:prstGeom>
          <a:noFill/>
          <a:ln/>
        </p:spPr>
        <p:txBody>
          <a:bodyPr wrap="square" lIns="0" tIns="0" rIns="0" bIns="0" rtlCol="0" anchor="t"/>
          <a:lstStyle/>
          <a:p>
            <a:pPr marL="0" indent="0">
              <a:buNone/>
            </a:pPr>
            <a:r>
              <a:rPr lang="en-US" sz="1100" dirty="0">
                <a:solidFill>
                  <a:schemeClr val="tx1"/>
                </a:solidFill>
              </a:rPr>
              <a:t>Capture carrier, route and distance, dispatch and delivery timestamps, handling time and weather. Re-test once 3 to 6 months of this data exists.</a:t>
            </a:r>
            <a:endParaRPr lang="en-US" sz="1100" dirty="0"/>
          </a:p>
        </p:txBody>
      </p:sp>
      <p:sp>
        <p:nvSpPr>
          <p:cNvPr id="12" name="Text 10"/>
          <p:cNvSpPr txBox="1"/>
          <p:nvPr/>
        </p:nvSpPr>
        <p:spPr>
          <a:xfrm>
            <a:off x="6812280" y="26883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Share of shipments with complete tracking data  |  0 to 6 months</a:t>
            </a:r>
            <a:endParaRPr lang="en-US" sz="1050" dirty="0"/>
          </a:p>
        </p:txBody>
      </p:sp>
      <p:sp>
        <p:nvSpPr>
          <p:cNvPr id="13" name="A rec 3"/>
          <p:cNvSpPr/>
          <p:nvPr/>
        </p:nvSpPr>
        <p:spPr>
          <a:xfrm>
            <a:off x="548640" y="3063240"/>
            <a:ext cx="5440680" cy="1463040"/>
          </a:xfrm>
          <a:prstGeom prst="rect">
            <a:avLst/>
          </a:prstGeom>
          <a:solidFill>
            <a:schemeClr val="bg2"/>
          </a:solidFill>
          <a:ln w="6350">
            <a:solidFill>
              <a:schemeClr val="bg2"/>
            </a:solidFill>
            <a:prstDash val="solid"/>
          </a:ln>
        </p:spPr>
      </p:sp>
      <p:sp>
        <p:nvSpPr>
          <p:cNvPr id="14" name="Text 12"/>
          <p:cNvSpPr txBox="1"/>
          <p:nvPr/>
        </p:nvSpPr>
        <p:spPr>
          <a:xfrm>
            <a:off x="685800" y="31729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1188720" y="31729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Clear and police the Pending backlog</a:t>
            </a:r>
            <a:endParaRPr lang="en-US" sz="1400" dirty="0"/>
          </a:p>
        </p:txBody>
      </p:sp>
      <p:sp>
        <p:nvSpPr>
          <p:cNvPr id="16" name="Text 14"/>
          <p:cNvSpPr txBox="1"/>
          <p:nvPr/>
        </p:nvSpPr>
        <p:spPr>
          <a:xfrm>
            <a:off x="1188720" y="3685032"/>
            <a:ext cx="4663440" cy="566928"/>
          </a:xfrm>
          <a:prstGeom prst="rect">
            <a:avLst/>
          </a:prstGeom>
          <a:noFill/>
          <a:ln/>
        </p:spPr>
        <p:txBody>
          <a:bodyPr wrap="square" lIns="0" tIns="0" rIns="0" bIns="0" rtlCol="0" anchor="t"/>
          <a:lstStyle/>
          <a:p>
            <a:pPr marL="0" indent="0">
              <a:buNone/>
            </a:pPr>
            <a:r>
              <a:rPr lang="en-US" sz="1100" dirty="0">
                <a:solidFill>
                  <a:schemeClr val="tx1"/>
                </a:solidFill>
              </a:rPr>
              <a:t>Add ageing rules: escalate after 7 days, auto-review at 30 days, and report Pending age in the weekly dashboard.</a:t>
            </a:r>
            <a:endParaRPr lang="en-US" sz="1100" dirty="0"/>
          </a:p>
        </p:txBody>
      </p:sp>
      <p:sp>
        <p:nvSpPr>
          <p:cNvPr id="17" name="Text 15"/>
          <p:cNvSpPr txBox="1"/>
          <p:nvPr/>
        </p:nvSpPr>
        <p:spPr>
          <a:xfrm>
            <a:off x="1188720" y="42885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Pending orders older than 30 days  |  0 to 3 months</a:t>
            </a:r>
            <a:endParaRPr lang="en-US" sz="1050" dirty="0"/>
          </a:p>
        </p:txBody>
      </p:sp>
      <p:sp>
        <p:nvSpPr>
          <p:cNvPr id="18" name="A rec 4"/>
          <p:cNvSpPr/>
          <p:nvPr/>
        </p:nvSpPr>
        <p:spPr>
          <a:xfrm>
            <a:off x="6172200" y="3063240"/>
            <a:ext cx="5440680" cy="1463040"/>
          </a:xfrm>
          <a:prstGeom prst="rect">
            <a:avLst/>
          </a:prstGeom>
          <a:solidFill>
            <a:schemeClr val="bg2"/>
          </a:solidFill>
          <a:ln w="6350">
            <a:solidFill>
              <a:schemeClr val="bg2"/>
            </a:solidFill>
            <a:prstDash val="solid"/>
          </a:ln>
        </p:spPr>
      </p:sp>
      <p:sp>
        <p:nvSpPr>
          <p:cNvPr id="19" name="Text 17"/>
          <p:cNvSpPr txBox="1"/>
          <p:nvPr/>
        </p:nvSpPr>
        <p:spPr>
          <a:xfrm>
            <a:off x="6309360" y="31729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6812280" y="31729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Stop creating shipments for cancelled orders</a:t>
            </a:r>
            <a:endParaRPr lang="en-US" sz="1400" dirty="0"/>
          </a:p>
        </p:txBody>
      </p:sp>
      <p:sp>
        <p:nvSpPr>
          <p:cNvPr id="21" name="Text 19"/>
          <p:cNvSpPr txBox="1"/>
          <p:nvPr/>
        </p:nvSpPr>
        <p:spPr>
          <a:xfrm>
            <a:off x="6812280" y="3685032"/>
            <a:ext cx="4663440" cy="566928"/>
          </a:xfrm>
          <a:prstGeom prst="rect">
            <a:avLst/>
          </a:prstGeom>
          <a:noFill/>
          <a:ln/>
        </p:spPr>
        <p:txBody>
          <a:bodyPr wrap="square" lIns="0" tIns="0" rIns="0" bIns="0" rtlCol="0" anchor="t"/>
          <a:lstStyle/>
          <a:p>
            <a:pPr marL="0" indent="0">
              <a:buNone/>
            </a:pPr>
            <a:r>
              <a:rPr lang="en-US" sz="1100" dirty="0">
                <a:solidFill>
                  <a:schemeClr val="tx1"/>
                </a:solidFill>
              </a:rPr>
              <a:t>Fix the order workflow so cancellation closes the shipment, and flag cancelled orders in delay reporting.</a:t>
            </a:r>
            <a:endParaRPr lang="en-US" sz="1100" dirty="0"/>
          </a:p>
        </p:txBody>
      </p:sp>
      <p:sp>
        <p:nvSpPr>
          <p:cNvPr id="22" name="Text 20"/>
          <p:cNvSpPr txBox="1"/>
          <p:nvPr/>
        </p:nvSpPr>
        <p:spPr>
          <a:xfrm>
            <a:off x="6812280" y="42885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Cancelled orders with an open shipment (target 0)  |  0 to 3 months</a:t>
            </a:r>
            <a:endParaRPr lang="en-US" sz="1050" dirty="0"/>
          </a:p>
        </p:txBody>
      </p:sp>
      <p:sp>
        <p:nvSpPr>
          <p:cNvPr id="23" name="A rec 5"/>
          <p:cNvSpPr/>
          <p:nvPr/>
        </p:nvSpPr>
        <p:spPr>
          <a:xfrm>
            <a:off x="548640" y="4663440"/>
            <a:ext cx="5440680" cy="1463040"/>
          </a:xfrm>
          <a:prstGeom prst="rect">
            <a:avLst/>
          </a:prstGeom>
          <a:solidFill>
            <a:schemeClr val="bg2"/>
          </a:solidFill>
          <a:ln w="6350">
            <a:solidFill>
              <a:schemeClr val="bg2"/>
            </a:solidFill>
            <a:prstDash val="solid"/>
          </a:ln>
        </p:spPr>
      </p:sp>
      <p:sp>
        <p:nvSpPr>
          <p:cNvPr id="24" name="Text 22"/>
          <p:cNvSpPr txBox="1"/>
          <p:nvPr/>
        </p:nvSpPr>
        <p:spPr>
          <a:xfrm>
            <a:off x="685800" y="47731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5</a:t>
            </a:r>
            <a:endParaRPr lang="en-US" sz="2400" dirty="0"/>
          </a:p>
        </p:txBody>
      </p:sp>
      <p:sp>
        <p:nvSpPr>
          <p:cNvPr id="25" name="Text 23"/>
          <p:cNvSpPr txBox="1"/>
          <p:nvPr/>
        </p:nvSpPr>
        <p:spPr>
          <a:xfrm>
            <a:off x="1188720" y="47731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Find out why a third of orders are cancelled</a:t>
            </a:r>
            <a:endParaRPr lang="en-US" sz="1400" dirty="0"/>
          </a:p>
        </p:txBody>
      </p:sp>
      <p:sp>
        <p:nvSpPr>
          <p:cNvPr id="26" name="Text 24"/>
          <p:cNvSpPr txBox="1"/>
          <p:nvPr/>
        </p:nvSpPr>
        <p:spPr>
          <a:xfrm>
            <a:off x="1188720" y="5285232"/>
            <a:ext cx="4663440" cy="566928"/>
          </a:xfrm>
          <a:prstGeom prst="rect">
            <a:avLst/>
          </a:prstGeom>
          <a:noFill/>
          <a:ln/>
        </p:spPr>
        <p:txBody>
          <a:bodyPr wrap="square" lIns="0" tIns="0" rIns="0" bIns="0" rtlCol="0" anchor="t"/>
          <a:lstStyle/>
          <a:p>
            <a:pPr marL="0" indent="0">
              <a:buNone/>
            </a:pPr>
            <a:r>
              <a:rPr lang="en-US" sz="1100" dirty="0">
                <a:solidFill>
                  <a:schemeClr val="tx1"/>
                </a:solidFill>
              </a:rPr>
              <a:t>Add a mandatory cancellation reason code (stock, payment, delivery promise, customer change) and review it monthly.</a:t>
            </a:r>
            <a:endParaRPr lang="en-US" sz="1100" dirty="0"/>
          </a:p>
        </p:txBody>
      </p:sp>
      <p:sp>
        <p:nvSpPr>
          <p:cNvPr id="27" name="Text 25"/>
          <p:cNvSpPr txBox="1"/>
          <p:nvPr/>
        </p:nvSpPr>
        <p:spPr>
          <a:xfrm>
            <a:off x="1188720" y="58887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Cancellation rate, by reason  |  0 to 3 months</a:t>
            </a:r>
            <a:endParaRPr lang="en-US" sz="1050" dirty="0"/>
          </a:p>
        </p:txBody>
      </p:sp>
      <p:sp>
        <p:nvSpPr>
          <p:cNvPr id="28" name="A rec 6"/>
          <p:cNvSpPr/>
          <p:nvPr/>
        </p:nvSpPr>
        <p:spPr>
          <a:xfrm>
            <a:off x="6172200" y="4663440"/>
            <a:ext cx="5440680" cy="1463040"/>
          </a:xfrm>
          <a:prstGeom prst="rect">
            <a:avLst/>
          </a:prstGeom>
          <a:solidFill>
            <a:schemeClr val="bg2"/>
          </a:solidFill>
          <a:ln w="6350">
            <a:solidFill>
              <a:schemeClr val="bg2"/>
            </a:solidFill>
            <a:prstDash val="solid"/>
          </a:ln>
        </p:spPr>
      </p:sp>
      <p:sp>
        <p:nvSpPr>
          <p:cNvPr id="29" name="Text 27"/>
          <p:cNvSpPr txBox="1"/>
          <p:nvPr/>
        </p:nvSpPr>
        <p:spPr>
          <a:xfrm>
            <a:off x="6309360" y="47731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6</a:t>
            </a:r>
            <a:endParaRPr lang="en-US" sz="2400" dirty="0"/>
          </a:p>
        </p:txBody>
      </p:sp>
      <p:sp>
        <p:nvSpPr>
          <p:cNvPr id="30" name="Text 28"/>
          <p:cNvSpPr txBox="1"/>
          <p:nvPr/>
        </p:nvSpPr>
        <p:spPr>
          <a:xfrm>
            <a:off x="6812280" y="47731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Align the warehouse network with where customers are</a:t>
            </a:r>
            <a:endParaRPr lang="en-US" sz="1400" dirty="0"/>
          </a:p>
        </p:txBody>
      </p:sp>
      <p:sp>
        <p:nvSpPr>
          <p:cNvPr id="31" name="Text 29"/>
          <p:cNvSpPr txBox="1"/>
          <p:nvPr/>
        </p:nvSpPr>
        <p:spPr>
          <a:xfrm>
            <a:off x="6812280" y="5285232"/>
            <a:ext cx="4663440" cy="566928"/>
          </a:xfrm>
          <a:prstGeom prst="rect">
            <a:avLst/>
          </a:prstGeom>
          <a:noFill/>
          <a:ln/>
        </p:spPr>
        <p:txBody>
          <a:bodyPr wrap="square" lIns="0" tIns="0" rIns="0" bIns="0" rtlCol="0" anchor="t"/>
          <a:lstStyle/>
          <a:p>
            <a:pPr marL="0" indent="0">
              <a:buNone/>
            </a:pPr>
            <a:r>
              <a:rPr lang="en-US" sz="1100" dirty="0">
                <a:solidFill>
                  <a:schemeClr val="tx1"/>
                </a:solidFill>
              </a:rPr>
              <a:t>Pilot nearest-warehouse dispatch rules and assess an Ibadan micro-hub. Measure cost and transit time, because delay did not differ between same-city (63.9%) and cross-city (63.7%) shipments.</a:t>
            </a:r>
            <a:endParaRPr lang="en-US" sz="1100" dirty="0"/>
          </a:p>
        </p:txBody>
      </p:sp>
      <p:sp>
        <p:nvSpPr>
          <p:cNvPr id="32" name="Text 30"/>
          <p:cNvSpPr txBox="1"/>
          <p:nvPr/>
        </p:nvSpPr>
        <p:spPr>
          <a:xfrm>
            <a:off x="6812280" y="58887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Share of same-city shipments, cost per shipment  |  3 to 9 months</a:t>
            </a:r>
            <a:endParaRPr lang="en-US" sz="105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chemeClr val="accent2"/>
                </a:solidFill>
                <a:latin typeface="Cambria" pitchFamily="34" charset="0"/>
                <a:ea typeface="Cambria" pitchFamily="34" charset="-122"/>
                <a:cs typeface="Cambria" pitchFamily="34" charset="-120"/>
              </a:rPr>
              <a:t>Recommendations 7 to 12: fix the data and the AI</a:t>
            </a:r>
            <a:endParaRPr lang="en-US" sz="2800" dirty="0">
              <a:solidFill>
                <a:schemeClr val="accent2"/>
              </a:solidFill>
            </a:endParaRPr>
          </a:p>
        </p:txBody>
      </p:sp>
      <p:sp>
        <p:nvSpPr>
          <p:cNvPr id="3" name="B rec 7"/>
          <p:cNvSpPr/>
          <p:nvPr/>
        </p:nvSpPr>
        <p:spPr>
          <a:xfrm>
            <a:off x="548640" y="1463040"/>
            <a:ext cx="5440680" cy="1463040"/>
          </a:xfrm>
          <a:prstGeom prst="rect">
            <a:avLst/>
          </a:prstGeom>
          <a:solidFill>
            <a:schemeClr val="bg2"/>
          </a:solidFill>
          <a:ln w="6350">
            <a:solidFill>
              <a:schemeClr val="bg2"/>
            </a:solidFill>
            <a:prstDash val="solid"/>
          </a:ln>
        </p:spPr>
      </p:sp>
      <p:sp>
        <p:nvSpPr>
          <p:cNvPr id="4" name="Text 2"/>
          <p:cNvSpPr txBox="1"/>
          <p:nvPr/>
        </p:nvSpPr>
        <p:spPr>
          <a:xfrm>
            <a:off x="685800" y="15727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7</a:t>
            </a:r>
            <a:endParaRPr lang="en-US" sz="2400" dirty="0"/>
          </a:p>
        </p:txBody>
      </p:sp>
      <p:sp>
        <p:nvSpPr>
          <p:cNvPr id="5" name="Text 3"/>
          <p:cNvSpPr txBox="1"/>
          <p:nvPr/>
        </p:nvSpPr>
        <p:spPr>
          <a:xfrm>
            <a:off x="1188720" y="15727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Right-size inventory</a:t>
            </a:r>
            <a:endParaRPr lang="en-US" sz="1400" dirty="0"/>
          </a:p>
        </p:txBody>
      </p:sp>
      <p:sp>
        <p:nvSpPr>
          <p:cNvPr id="6" name="Text 4"/>
          <p:cNvSpPr txBox="1"/>
          <p:nvPr/>
        </p:nvSpPr>
        <p:spPr>
          <a:xfrm>
            <a:off x="1188720" y="2084832"/>
            <a:ext cx="4663440" cy="566928"/>
          </a:xfrm>
          <a:prstGeom prst="rect">
            <a:avLst/>
          </a:prstGeom>
          <a:noFill/>
          <a:ln/>
        </p:spPr>
        <p:txBody>
          <a:bodyPr wrap="square" lIns="0" tIns="0" rIns="0" bIns="0" rtlCol="0" anchor="t"/>
          <a:lstStyle/>
          <a:p>
            <a:pPr marL="0" indent="0">
              <a:buNone/>
            </a:pPr>
            <a:r>
              <a:rPr lang="en-US" sz="1100" dirty="0">
                <a:solidFill>
                  <a:schemeClr val="tx1"/>
                </a:solidFill>
              </a:rPr>
              <a:t>Verify that stock and order quantities use the same unit, then pause replenishment and set min/max reorder points to release working capital.</a:t>
            </a:r>
            <a:endParaRPr lang="en-US" sz="1100" dirty="0"/>
          </a:p>
        </p:txBody>
      </p:sp>
      <p:sp>
        <p:nvSpPr>
          <p:cNvPr id="7" name="Text 5"/>
          <p:cNvSpPr txBox="1"/>
          <p:nvPr/>
        </p:nvSpPr>
        <p:spPr>
          <a:xfrm>
            <a:off x="1188720" y="26883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Months of cover per product, stock value  |  0 to 6 months</a:t>
            </a:r>
            <a:endParaRPr lang="en-US" sz="1050" dirty="0"/>
          </a:p>
        </p:txBody>
      </p:sp>
      <p:sp>
        <p:nvSpPr>
          <p:cNvPr id="8" name="B rec 8"/>
          <p:cNvSpPr/>
          <p:nvPr/>
        </p:nvSpPr>
        <p:spPr>
          <a:xfrm>
            <a:off x="6172200" y="1463040"/>
            <a:ext cx="5440680" cy="1463040"/>
          </a:xfrm>
          <a:prstGeom prst="rect">
            <a:avLst/>
          </a:prstGeom>
          <a:solidFill>
            <a:schemeClr val="bg2"/>
          </a:solidFill>
          <a:ln w="6350">
            <a:solidFill>
              <a:schemeClr val="bg2"/>
            </a:solidFill>
            <a:prstDash val="solid"/>
          </a:ln>
        </p:spPr>
      </p:sp>
      <p:sp>
        <p:nvSpPr>
          <p:cNvPr id="9" name="Text 7"/>
          <p:cNvSpPr txBox="1"/>
          <p:nvPr/>
        </p:nvSpPr>
        <p:spPr>
          <a:xfrm>
            <a:off x="6309360" y="15727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8</a:t>
            </a:r>
            <a:endParaRPr lang="en-US" sz="2400" dirty="0"/>
          </a:p>
        </p:txBody>
      </p:sp>
      <p:sp>
        <p:nvSpPr>
          <p:cNvPr id="10" name="Text 8"/>
          <p:cNvSpPr txBox="1"/>
          <p:nvPr/>
        </p:nvSpPr>
        <p:spPr>
          <a:xfrm>
            <a:off x="6812280" y="15727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Rebalance stock between warehouses before reordering</a:t>
            </a:r>
            <a:endParaRPr lang="en-US" sz="1400" dirty="0"/>
          </a:p>
        </p:txBody>
      </p:sp>
      <p:sp>
        <p:nvSpPr>
          <p:cNvPr id="11" name="Text 9"/>
          <p:cNvSpPr txBox="1"/>
          <p:nvPr/>
        </p:nvSpPr>
        <p:spPr>
          <a:xfrm>
            <a:off x="6812280" y="2084832"/>
            <a:ext cx="4663440" cy="566928"/>
          </a:xfrm>
          <a:prstGeom prst="rect">
            <a:avLst/>
          </a:prstGeom>
          <a:noFill/>
          <a:ln/>
        </p:spPr>
        <p:txBody>
          <a:bodyPr wrap="square" lIns="0" tIns="0" rIns="0" bIns="0" rtlCol="0" anchor="t"/>
          <a:lstStyle/>
          <a:p>
            <a:pPr marL="0" indent="0">
              <a:buNone/>
            </a:pPr>
            <a:r>
              <a:rPr lang="en-US" sz="1100" dirty="0">
                <a:solidFill>
                  <a:schemeClr val="tx1"/>
                </a:solidFill>
              </a:rPr>
              <a:t>Transfer surplus stock to low-stock locations, and raise a transfer request automatically when a pair falls below a threshold.</a:t>
            </a:r>
            <a:endParaRPr lang="en-US" sz="1100" dirty="0"/>
          </a:p>
        </p:txBody>
      </p:sp>
      <p:sp>
        <p:nvSpPr>
          <p:cNvPr id="12" name="Text 10"/>
          <p:cNvSpPr txBox="1"/>
          <p:nvPr/>
        </p:nvSpPr>
        <p:spPr>
          <a:xfrm>
            <a:off x="6812280" y="26883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Warehouse-product pairs below 50 units  |  0 to 3 months</a:t>
            </a:r>
            <a:endParaRPr lang="en-US" sz="1050" dirty="0"/>
          </a:p>
        </p:txBody>
      </p:sp>
      <p:sp>
        <p:nvSpPr>
          <p:cNvPr id="13" name="B rec 9"/>
          <p:cNvSpPr/>
          <p:nvPr/>
        </p:nvSpPr>
        <p:spPr>
          <a:xfrm>
            <a:off x="548640" y="3063240"/>
            <a:ext cx="5440680" cy="1463040"/>
          </a:xfrm>
          <a:prstGeom prst="rect">
            <a:avLst/>
          </a:prstGeom>
          <a:solidFill>
            <a:schemeClr val="bg2"/>
          </a:solidFill>
          <a:ln w="6350">
            <a:solidFill>
              <a:schemeClr val="bg2"/>
            </a:solidFill>
            <a:prstDash val="solid"/>
          </a:ln>
        </p:spPr>
      </p:sp>
      <p:sp>
        <p:nvSpPr>
          <p:cNvPr id="14" name="Text 12"/>
          <p:cNvSpPr txBox="1"/>
          <p:nvPr/>
        </p:nvSpPr>
        <p:spPr>
          <a:xfrm>
            <a:off x="685800" y="31729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9</a:t>
            </a:r>
            <a:endParaRPr lang="en-US" sz="2400" dirty="0"/>
          </a:p>
        </p:txBody>
      </p:sp>
      <p:sp>
        <p:nvSpPr>
          <p:cNvPr id="15" name="Text 13"/>
          <p:cNvSpPr txBox="1"/>
          <p:nvPr/>
        </p:nvSpPr>
        <p:spPr>
          <a:xfrm>
            <a:off x="1188720" y="31729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Do not let the current models drive decisions</a:t>
            </a:r>
            <a:endParaRPr lang="en-US" sz="1400" dirty="0"/>
          </a:p>
        </p:txBody>
      </p:sp>
      <p:sp>
        <p:nvSpPr>
          <p:cNvPr id="16" name="Text 14"/>
          <p:cNvSpPr txBox="1"/>
          <p:nvPr/>
        </p:nvSpPr>
        <p:spPr>
          <a:xfrm>
            <a:off x="1188720" y="3685032"/>
            <a:ext cx="4663440" cy="566928"/>
          </a:xfrm>
          <a:prstGeom prst="rect">
            <a:avLst/>
          </a:prstGeom>
          <a:noFill/>
          <a:ln/>
        </p:spPr>
        <p:txBody>
          <a:bodyPr wrap="square" lIns="0" tIns="0" rIns="0" bIns="0" rtlCol="0" anchor="t"/>
          <a:lstStyle/>
          <a:p>
            <a:pPr marL="0" indent="0">
              <a:buNone/>
            </a:pPr>
            <a:r>
              <a:rPr lang="en-US" sz="1100" dirty="0">
                <a:solidFill>
                  <a:schemeClr val="tx1"/>
                </a:solidFill>
              </a:rPr>
              <a:t>Use the Streamlit app as a prototype only. Set an acceptance gate before any model is used: beat the baseline on a time-ordered test set and pass the shuffle test at p below 0.05.</a:t>
            </a:r>
            <a:endParaRPr lang="en-US" sz="1100" dirty="0"/>
          </a:p>
        </p:txBody>
      </p:sp>
      <p:sp>
        <p:nvSpPr>
          <p:cNvPr id="17" name="Text 15"/>
          <p:cNvSpPr txBox="1"/>
          <p:nvPr/>
        </p:nvSpPr>
        <p:spPr>
          <a:xfrm>
            <a:off x="1188720" y="42885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Model vs baseline on a held-out period  |  Ongoing</a:t>
            </a:r>
            <a:endParaRPr lang="en-US" sz="1050" dirty="0"/>
          </a:p>
        </p:txBody>
      </p:sp>
      <p:sp>
        <p:nvSpPr>
          <p:cNvPr id="18" name="B rec 10"/>
          <p:cNvSpPr/>
          <p:nvPr/>
        </p:nvSpPr>
        <p:spPr>
          <a:xfrm>
            <a:off x="6172200" y="3063240"/>
            <a:ext cx="5440680" cy="1463040"/>
          </a:xfrm>
          <a:prstGeom prst="rect">
            <a:avLst/>
          </a:prstGeom>
          <a:solidFill>
            <a:schemeClr val="bg2"/>
          </a:solidFill>
          <a:ln w="6350">
            <a:solidFill>
              <a:schemeClr val="bg2"/>
            </a:solidFill>
            <a:prstDash val="solid"/>
          </a:ln>
        </p:spPr>
      </p:sp>
      <p:sp>
        <p:nvSpPr>
          <p:cNvPr id="19" name="Text 17"/>
          <p:cNvSpPr txBox="1"/>
          <p:nvPr/>
        </p:nvSpPr>
        <p:spPr>
          <a:xfrm>
            <a:off x="6309360" y="31729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10</a:t>
            </a:r>
            <a:endParaRPr lang="en-US" sz="2400" dirty="0"/>
          </a:p>
        </p:txBody>
      </p:sp>
      <p:sp>
        <p:nvSpPr>
          <p:cNvPr id="20" name="Text 18"/>
          <p:cNvSpPr txBox="1"/>
          <p:nvPr/>
        </p:nvSpPr>
        <p:spPr>
          <a:xfrm>
            <a:off x="6812280" y="31729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Enrich customer data before predicting customer value</a:t>
            </a:r>
            <a:endParaRPr lang="en-US" sz="1400" dirty="0"/>
          </a:p>
        </p:txBody>
      </p:sp>
      <p:sp>
        <p:nvSpPr>
          <p:cNvPr id="21" name="Text 19"/>
          <p:cNvSpPr txBox="1"/>
          <p:nvPr/>
        </p:nvSpPr>
        <p:spPr>
          <a:xfrm>
            <a:off x="6812280" y="3685032"/>
            <a:ext cx="4663440" cy="566928"/>
          </a:xfrm>
          <a:prstGeom prst="rect">
            <a:avLst/>
          </a:prstGeom>
          <a:noFill/>
          <a:ln/>
        </p:spPr>
        <p:txBody>
          <a:bodyPr wrap="square" lIns="0" tIns="0" rIns="0" bIns="0" rtlCol="0" anchor="t"/>
          <a:lstStyle/>
          <a:p>
            <a:pPr marL="0" indent="0">
              <a:buNone/>
            </a:pPr>
            <a:r>
              <a:rPr lang="en-US" sz="1100" dirty="0">
                <a:solidFill>
                  <a:schemeClr val="tx1"/>
                </a:solidFill>
              </a:rPr>
              <a:t>Add segment, acquisition channel, payment method and returns, then run reactivation experiments (A/B tests) to learn what works instead of predicting spend.</a:t>
            </a:r>
            <a:endParaRPr lang="en-US" sz="1100" dirty="0"/>
          </a:p>
        </p:txBody>
      </p:sp>
      <p:sp>
        <p:nvSpPr>
          <p:cNvPr id="22" name="Text 20"/>
          <p:cNvSpPr txBox="1"/>
          <p:nvPr/>
        </p:nvSpPr>
        <p:spPr>
          <a:xfrm>
            <a:off x="6812280" y="42885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Reactivation rate of lapsed customers  |  3 to 9 months</a:t>
            </a:r>
            <a:endParaRPr lang="en-US" sz="1050" dirty="0"/>
          </a:p>
        </p:txBody>
      </p:sp>
      <p:sp>
        <p:nvSpPr>
          <p:cNvPr id="23" name="B rec 11"/>
          <p:cNvSpPr/>
          <p:nvPr/>
        </p:nvSpPr>
        <p:spPr>
          <a:xfrm>
            <a:off x="548640" y="4663440"/>
            <a:ext cx="5440680" cy="1463040"/>
          </a:xfrm>
          <a:prstGeom prst="rect">
            <a:avLst/>
          </a:prstGeom>
          <a:solidFill>
            <a:schemeClr val="bg2"/>
          </a:solidFill>
          <a:ln w="6350">
            <a:solidFill>
              <a:schemeClr val="bg2"/>
            </a:solidFill>
            <a:prstDash val="solid"/>
          </a:ln>
        </p:spPr>
      </p:sp>
      <p:sp>
        <p:nvSpPr>
          <p:cNvPr id="24" name="Text 22"/>
          <p:cNvSpPr txBox="1"/>
          <p:nvPr/>
        </p:nvSpPr>
        <p:spPr>
          <a:xfrm>
            <a:off x="685800" y="47731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11</a:t>
            </a:r>
            <a:endParaRPr lang="en-US" sz="2400" dirty="0"/>
          </a:p>
        </p:txBody>
      </p:sp>
      <p:sp>
        <p:nvSpPr>
          <p:cNvPr id="25" name="Text 23"/>
          <p:cNvSpPr txBox="1"/>
          <p:nvPr/>
        </p:nvSpPr>
        <p:spPr>
          <a:xfrm>
            <a:off x="1188720" y="47731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Link suppliers to products and shipments</a:t>
            </a:r>
            <a:endParaRPr lang="en-US" sz="1400" dirty="0"/>
          </a:p>
        </p:txBody>
      </p:sp>
      <p:sp>
        <p:nvSpPr>
          <p:cNvPr id="26" name="Text 24"/>
          <p:cNvSpPr txBox="1"/>
          <p:nvPr/>
        </p:nvSpPr>
        <p:spPr>
          <a:xfrm>
            <a:off x="1188720" y="5285232"/>
            <a:ext cx="4663440" cy="566928"/>
          </a:xfrm>
          <a:prstGeom prst="rect">
            <a:avLst/>
          </a:prstGeom>
          <a:noFill/>
          <a:ln/>
        </p:spPr>
        <p:txBody>
          <a:bodyPr wrap="square" lIns="0" tIns="0" rIns="0" bIns="0" rtlCol="0" anchor="t"/>
          <a:lstStyle/>
          <a:p>
            <a:pPr marL="0" indent="0">
              <a:buNone/>
            </a:pPr>
            <a:r>
              <a:rPr lang="en-US" sz="1100" dirty="0">
                <a:solidFill>
                  <a:schemeClr val="tx1"/>
                </a:solidFill>
              </a:rPr>
              <a:t>Add SupplierID to Products and Shipments, with purchase-order, promised and received dates and quality outcomes.</a:t>
            </a:r>
            <a:endParaRPr lang="en-US" sz="1100" dirty="0"/>
          </a:p>
        </p:txBody>
      </p:sp>
      <p:sp>
        <p:nvSpPr>
          <p:cNvPr id="27" name="Text 25"/>
          <p:cNvSpPr txBox="1"/>
          <p:nvPr/>
        </p:nvSpPr>
        <p:spPr>
          <a:xfrm>
            <a:off x="1188720" y="58887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Share of shipments with a supplier link  |  0 to 6 months</a:t>
            </a:r>
            <a:endParaRPr lang="en-US" sz="1050" dirty="0"/>
          </a:p>
        </p:txBody>
      </p:sp>
      <p:sp>
        <p:nvSpPr>
          <p:cNvPr id="28" name="B rec 12"/>
          <p:cNvSpPr/>
          <p:nvPr/>
        </p:nvSpPr>
        <p:spPr>
          <a:xfrm>
            <a:off x="6172200" y="4663440"/>
            <a:ext cx="5440680" cy="1463040"/>
          </a:xfrm>
          <a:prstGeom prst="rect">
            <a:avLst/>
          </a:prstGeom>
          <a:solidFill>
            <a:schemeClr val="bg2"/>
          </a:solidFill>
          <a:ln w="6350">
            <a:solidFill>
              <a:schemeClr val="bg2"/>
            </a:solidFill>
            <a:prstDash val="solid"/>
          </a:ln>
        </p:spPr>
      </p:sp>
      <p:sp>
        <p:nvSpPr>
          <p:cNvPr id="29" name="Text 27"/>
          <p:cNvSpPr txBox="1"/>
          <p:nvPr/>
        </p:nvSpPr>
        <p:spPr>
          <a:xfrm>
            <a:off x="6309360" y="4773168"/>
            <a:ext cx="457200" cy="457200"/>
          </a:xfrm>
          <a:prstGeom prst="rect">
            <a:avLst/>
          </a:prstGeom>
          <a:noFill/>
          <a:ln/>
        </p:spPr>
        <p:txBody>
          <a:bodyPr wrap="square" lIns="0" tIns="0" rIns="0" bIns="0" rtlCol="0" anchor="t"/>
          <a:lstStyle/>
          <a:p>
            <a:pPr marL="0" indent="0">
              <a:buNone/>
            </a:pPr>
            <a:r>
              <a:rPr lang="en-US" sz="2400" b="1" dirty="0">
                <a:solidFill>
                  <a:schemeClr val="accent2"/>
                </a:solidFill>
                <a:latin typeface="Cambria" pitchFamily="34" charset="0"/>
                <a:ea typeface="Cambria" pitchFamily="34" charset="-122"/>
                <a:cs typeface="Cambria" pitchFamily="34" charset="-120"/>
              </a:rPr>
              <a:t>12</a:t>
            </a:r>
            <a:endParaRPr lang="en-US" sz="2400" dirty="0"/>
          </a:p>
        </p:txBody>
      </p:sp>
      <p:sp>
        <p:nvSpPr>
          <p:cNvPr id="30" name="Text 28"/>
          <p:cNvSpPr txBox="1"/>
          <p:nvPr/>
        </p:nvSpPr>
        <p:spPr>
          <a:xfrm>
            <a:off x="6812280" y="4773168"/>
            <a:ext cx="4663440" cy="457200"/>
          </a:xfrm>
          <a:prstGeom prst="rect">
            <a:avLst/>
          </a:prstGeom>
          <a:noFill/>
          <a:ln/>
        </p:spPr>
        <p:txBody>
          <a:bodyPr wrap="square" lIns="0" tIns="0" rIns="0" bIns="0" rtlCol="0" anchor="t"/>
          <a:lstStyle/>
          <a:p>
            <a:pPr marL="0" indent="0">
              <a:buNone/>
            </a:pPr>
            <a:r>
              <a:rPr lang="en-US" sz="1400" b="1" dirty="0">
                <a:solidFill>
                  <a:schemeClr val="tx1"/>
                </a:solidFill>
              </a:rPr>
              <a:t>Forecast demand at category level until richer data exists</a:t>
            </a:r>
            <a:endParaRPr lang="en-US" sz="1400" dirty="0"/>
          </a:p>
        </p:txBody>
      </p:sp>
      <p:sp>
        <p:nvSpPr>
          <p:cNvPr id="31" name="Text 29"/>
          <p:cNvSpPr txBox="1"/>
          <p:nvPr/>
        </p:nvSpPr>
        <p:spPr>
          <a:xfrm>
            <a:off x="6812280" y="5285232"/>
            <a:ext cx="4663440" cy="566928"/>
          </a:xfrm>
          <a:prstGeom prst="rect">
            <a:avLst/>
          </a:prstGeom>
          <a:noFill/>
          <a:ln/>
        </p:spPr>
        <p:txBody>
          <a:bodyPr wrap="square" lIns="0" tIns="0" rIns="0" bIns="0" rtlCol="0" anchor="t"/>
          <a:lstStyle/>
          <a:p>
            <a:pPr marL="0" indent="0">
              <a:buNone/>
            </a:pPr>
            <a:r>
              <a:rPr lang="en-US" sz="1100" dirty="0">
                <a:solidFill>
                  <a:schemeClr val="tx1"/>
                </a:solidFill>
              </a:rPr>
              <a:t>Plan with category-level monthly forecasts plus safety stock, and capture promotions, price changes and stock-outs. Revisit product-level forecasting with 12 or more months of data.</a:t>
            </a:r>
            <a:endParaRPr lang="en-US" sz="1100" dirty="0"/>
          </a:p>
        </p:txBody>
      </p:sp>
      <p:sp>
        <p:nvSpPr>
          <p:cNvPr id="32" name="Text 30"/>
          <p:cNvSpPr txBox="1"/>
          <p:nvPr/>
        </p:nvSpPr>
        <p:spPr>
          <a:xfrm>
            <a:off x="6812280" y="5888736"/>
            <a:ext cx="4663440" cy="201168"/>
          </a:xfrm>
          <a:prstGeom prst="rect">
            <a:avLst/>
          </a:prstGeom>
          <a:noFill/>
          <a:ln/>
        </p:spPr>
        <p:txBody>
          <a:bodyPr wrap="square" lIns="0" tIns="0" rIns="0" bIns="0" rtlCol="0" anchor="t"/>
          <a:lstStyle/>
          <a:p>
            <a:pPr marL="0" indent="0">
              <a:buNone/>
            </a:pPr>
            <a:r>
              <a:rPr lang="en-US" sz="1050" dirty="0">
                <a:solidFill>
                  <a:schemeClr val="tx2"/>
                </a:solidFill>
              </a:rPr>
              <a:t>KPI: Forecast error at category level  |  3 to 9 months</a:t>
            </a:r>
            <a:endParaRPr lang="en-US" sz="1050" dirty="0"/>
          </a:p>
        </p:txBody>
      </p:sp>
      <p:sp>
        <p:nvSpPr>
          <p:cNvPr id="3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chemeClr val="accent2"/>
                </a:solidFill>
                <a:latin typeface="Cambria" pitchFamily="34" charset="0"/>
                <a:ea typeface="Cambria" pitchFamily="34" charset="-122"/>
                <a:cs typeface="Cambria" pitchFamily="34" charset="-120"/>
              </a:rPr>
              <a:t>Future AI roadmap: earn the right to predict</a:t>
            </a:r>
            <a:endParaRPr lang="en-US" sz="2800" dirty="0">
              <a:solidFill>
                <a:schemeClr val="accent2"/>
              </a:solidFill>
            </a:endParaRPr>
          </a:p>
        </p:txBody>
      </p:sp>
      <p:sp>
        <p:nvSpPr>
          <p:cNvPr id="3" name="Roadmap phase 1"/>
          <p:cNvSpPr/>
          <p:nvPr/>
        </p:nvSpPr>
        <p:spPr>
          <a:xfrm>
            <a:off x="548640" y="1463040"/>
            <a:ext cx="3566160" cy="4480560"/>
          </a:xfrm>
          <a:prstGeom prst="rect">
            <a:avLst/>
          </a:prstGeom>
          <a:solidFill>
            <a:schemeClr val="bg2"/>
          </a:solidFill>
          <a:ln w="6350">
            <a:solidFill>
              <a:schemeClr val="bg2"/>
            </a:solidFill>
            <a:prstDash val="solid"/>
          </a:ln>
        </p:spPr>
      </p:sp>
      <p:sp>
        <p:nvSpPr>
          <p:cNvPr id="4" name="Text 2"/>
          <p:cNvSpPr txBox="1"/>
          <p:nvPr/>
        </p:nvSpPr>
        <p:spPr>
          <a:xfrm>
            <a:off x="731520" y="1645920"/>
            <a:ext cx="3200400" cy="36576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Phase 1: Foundations</a:t>
            </a:r>
            <a:endParaRPr lang="en-US" sz="1800" dirty="0"/>
          </a:p>
        </p:txBody>
      </p:sp>
      <p:sp>
        <p:nvSpPr>
          <p:cNvPr id="5" name="Text 3"/>
          <p:cNvSpPr txBox="1"/>
          <p:nvPr/>
        </p:nvSpPr>
        <p:spPr>
          <a:xfrm>
            <a:off x="731520" y="2057400"/>
            <a:ext cx="3200400" cy="274320"/>
          </a:xfrm>
          <a:prstGeom prst="rect">
            <a:avLst/>
          </a:prstGeom>
          <a:noFill/>
          <a:ln/>
        </p:spPr>
        <p:txBody>
          <a:bodyPr wrap="square" lIns="0" tIns="0" rIns="0" bIns="0" rtlCol="0" anchor="t"/>
          <a:lstStyle/>
          <a:p>
            <a:pPr marL="0" indent="0">
              <a:buNone/>
            </a:pPr>
            <a:r>
              <a:rPr lang="en-US" sz="1300" dirty="0">
                <a:solidFill>
                  <a:schemeClr val="tx2"/>
                </a:solidFill>
              </a:rPr>
              <a:t>0 to 3 months</a:t>
            </a:r>
            <a:endParaRPr lang="en-US" sz="1300" dirty="0"/>
          </a:p>
        </p:txBody>
      </p:sp>
      <p:sp>
        <p:nvSpPr>
          <p:cNvPr id="6" name="Text 4"/>
          <p:cNvSpPr txBox="1"/>
          <p:nvPr/>
        </p:nvSpPr>
        <p:spPr>
          <a:xfrm>
            <a:off x="731520" y="2514600"/>
            <a:ext cx="320040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Weekly KPI dashboard: delayed share, Pending age, cancellations, cover</a:t>
            </a:r>
            <a:endParaRPr lang="en-US" sz="1400" dirty="0"/>
          </a:p>
          <a:p>
            <a:pPr marL="342900" indent="-342900">
              <a:spcAft>
                <a:spcPts val="800"/>
              </a:spcAft>
              <a:buSzPct val="100000"/>
              <a:buChar char="•"/>
            </a:pPr>
            <a:r>
              <a:rPr lang="en-US" sz="1400" dirty="0">
                <a:solidFill>
                  <a:schemeClr val="tx1"/>
                </a:solidFill>
              </a:rPr>
              <a:t>Fix cancelled-order shipments and add cancellation reason codes</a:t>
            </a:r>
            <a:endParaRPr lang="en-US" sz="1400" dirty="0"/>
          </a:p>
          <a:p>
            <a:pPr marL="342900" indent="-342900">
              <a:spcAft>
                <a:spcPts val="800"/>
              </a:spcAft>
              <a:buSzPct val="100000"/>
              <a:buChar char="•"/>
            </a:pPr>
            <a:r>
              <a:rPr lang="en-US" sz="1400" dirty="0">
                <a:solidFill>
                  <a:schemeClr val="tx1"/>
                </a:solidFill>
              </a:rPr>
              <a:t>Data-quality checks on every feed (duplicates, orders without items, stale Pending)</a:t>
            </a:r>
            <a:endParaRPr lang="en-US" sz="1400" dirty="0"/>
          </a:p>
        </p:txBody>
      </p:sp>
      <p:sp>
        <p:nvSpPr>
          <p:cNvPr id="7" name="Roadmap phase 2"/>
          <p:cNvSpPr/>
          <p:nvPr/>
        </p:nvSpPr>
        <p:spPr>
          <a:xfrm>
            <a:off x="4297680" y="1463040"/>
            <a:ext cx="3566160" cy="4480560"/>
          </a:xfrm>
          <a:prstGeom prst="rect">
            <a:avLst/>
          </a:prstGeom>
          <a:solidFill>
            <a:schemeClr val="bg2"/>
          </a:solidFill>
          <a:ln w="6350">
            <a:solidFill>
              <a:schemeClr val="bg2"/>
            </a:solidFill>
            <a:prstDash val="solid"/>
          </a:ln>
        </p:spPr>
      </p:sp>
      <p:sp>
        <p:nvSpPr>
          <p:cNvPr id="8" name="Text 6"/>
          <p:cNvSpPr txBox="1"/>
          <p:nvPr/>
        </p:nvSpPr>
        <p:spPr>
          <a:xfrm>
            <a:off x="4480560" y="1645920"/>
            <a:ext cx="320040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Phase 2: Better data</a:t>
            </a:r>
            <a:endParaRPr lang="en-US" sz="1800" dirty="0"/>
          </a:p>
        </p:txBody>
      </p:sp>
      <p:sp>
        <p:nvSpPr>
          <p:cNvPr id="9" name="Text 7"/>
          <p:cNvSpPr txBox="1"/>
          <p:nvPr/>
        </p:nvSpPr>
        <p:spPr>
          <a:xfrm>
            <a:off x="4480560" y="2057400"/>
            <a:ext cx="3200400" cy="274320"/>
          </a:xfrm>
          <a:prstGeom prst="rect">
            <a:avLst/>
          </a:prstGeom>
          <a:noFill/>
          <a:ln/>
        </p:spPr>
        <p:txBody>
          <a:bodyPr wrap="square" lIns="0" tIns="0" rIns="0" bIns="0" rtlCol="0" anchor="t"/>
          <a:lstStyle/>
          <a:p>
            <a:pPr marL="0" indent="0">
              <a:buNone/>
            </a:pPr>
            <a:r>
              <a:rPr lang="en-US" sz="1300" dirty="0">
                <a:solidFill>
                  <a:schemeClr val="tx2"/>
                </a:solidFill>
              </a:rPr>
              <a:t>3 to 9 months</a:t>
            </a:r>
            <a:endParaRPr lang="en-US" sz="1300" dirty="0"/>
          </a:p>
        </p:txBody>
      </p:sp>
      <p:sp>
        <p:nvSpPr>
          <p:cNvPr id="10" name="Text 8"/>
          <p:cNvSpPr txBox="1"/>
          <p:nvPr/>
        </p:nvSpPr>
        <p:spPr>
          <a:xfrm>
            <a:off x="4480560" y="2514600"/>
            <a:ext cx="320040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Capture carrier, route, timestamps and weather; add SupplierID links</a:t>
            </a:r>
            <a:endParaRPr lang="en-US" sz="1400" dirty="0"/>
          </a:p>
          <a:p>
            <a:pPr marL="342900" indent="-342900">
              <a:spcAft>
                <a:spcPts val="800"/>
              </a:spcAft>
              <a:buSzPct val="100000"/>
              <a:buChar char="•"/>
            </a:pPr>
            <a:r>
              <a:rPr lang="en-US" sz="1400" dirty="0">
                <a:solidFill>
                  <a:schemeClr val="tx1"/>
                </a:solidFill>
              </a:rPr>
              <a:t>Statistical demand plan at category level with safety stock</a:t>
            </a:r>
            <a:endParaRPr lang="en-US" sz="1400" dirty="0"/>
          </a:p>
          <a:p>
            <a:pPr marL="342900" indent="-342900">
              <a:spcAft>
                <a:spcPts val="800"/>
              </a:spcAft>
              <a:buSzPct val="100000"/>
              <a:buChar char="•"/>
            </a:pPr>
            <a:r>
              <a:rPr lang="en-US" sz="1400" dirty="0">
                <a:solidFill>
                  <a:schemeClr val="tx1"/>
                </a:solidFill>
              </a:rPr>
              <a:t>Reorder points and stock transfers across warehouses</a:t>
            </a:r>
            <a:endParaRPr lang="en-US" sz="1400" dirty="0"/>
          </a:p>
        </p:txBody>
      </p:sp>
      <p:sp>
        <p:nvSpPr>
          <p:cNvPr id="11" name="Roadmap phase 3"/>
          <p:cNvSpPr/>
          <p:nvPr/>
        </p:nvSpPr>
        <p:spPr>
          <a:xfrm>
            <a:off x="8046720" y="1463040"/>
            <a:ext cx="3566160" cy="4480560"/>
          </a:xfrm>
          <a:prstGeom prst="rect">
            <a:avLst/>
          </a:prstGeom>
          <a:solidFill>
            <a:schemeClr val="bg2"/>
          </a:solidFill>
          <a:ln w="6350">
            <a:solidFill>
              <a:schemeClr val="bg2"/>
            </a:solidFill>
            <a:prstDash val="solid"/>
          </a:ln>
        </p:spPr>
      </p:sp>
      <p:sp>
        <p:nvSpPr>
          <p:cNvPr id="12" name="Text 10"/>
          <p:cNvSpPr txBox="1"/>
          <p:nvPr/>
        </p:nvSpPr>
        <p:spPr>
          <a:xfrm>
            <a:off x="8229600" y="1645920"/>
            <a:ext cx="3200400" cy="365760"/>
          </a:xfrm>
          <a:prstGeom prst="rect">
            <a:avLst/>
          </a:prstGeom>
          <a:noFill/>
          <a:ln/>
        </p:spPr>
        <p:txBody>
          <a:bodyPr wrap="square" lIns="0" tIns="0" rIns="0" bIns="0" rtlCol="0" anchor="t"/>
          <a:lstStyle/>
          <a:p>
            <a:pPr marL="0" indent="0">
              <a:buNone/>
            </a:pPr>
            <a:r>
              <a:rPr lang="en-US" sz="1800" b="1" dirty="0">
                <a:solidFill>
                  <a:schemeClr val="accent5"/>
                </a:solidFill>
                <a:latin typeface="Cambria" pitchFamily="34" charset="0"/>
                <a:ea typeface="Cambria" pitchFamily="34" charset="-122"/>
                <a:cs typeface="Cambria" pitchFamily="34" charset="-120"/>
              </a:rPr>
              <a:t>Phase 3: Earned models</a:t>
            </a:r>
            <a:endParaRPr lang="en-US" sz="1800" dirty="0"/>
          </a:p>
        </p:txBody>
      </p:sp>
      <p:sp>
        <p:nvSpPr>
          <p:cNvPr id="13" name="Text 11"/>
          <p:cNvSpPr txBox="1"/>
          <p:nvPr/>
        </p:nvSpPr>
        <p:spPr>
          <a:xfrm>
            <a:off x="8229600" y="2057400"/>
            <a:ext cx="3200400" cy="274320"/>
          </a:xfrm>
          <a:prstGeom prst="rect">
            <a:avLst/>
          </a:prstGeom>
          <a:noFill/>
          <a:ln/>
        </p:spPr>
        <p:txBody>
          <a:bodyPr wrap="square" lIns="0" tIns="0" rIns="0" bIns="0" rtlCol="0" anchor="t"/>
          <a:lstStyle/>
          <a:p>
            <a:pPr marL="0" indent="0">
              <a:buNone/>
            </a:pPr>
            <a:r>
              <a:rPr lang="en-US" sz="1300" dirty="0">
                <a:solidFill>
                  <a:schemeClr val="tx2"/>
                </a:solidFill>
              </a:rPr>
              <a:t>9 to 18 months</a:t>
            </a:r>
            <a:endParaRPr lang="en-US" sz="1300" dirty="0"/>
          </a:p>
        </p:txBody>
      </p:sp>
      <p:sp>
        <p:nvSpPr>
          <p:cNvPr id="14" name="Text 12"/>
          <p:cNvSpPr txBox="1"/>
          <p:nvPr/>
        </p:nvSpPr>
        <p:spPr>
          <a:xfrm>
            <a:off x="8229600" y="2514600"/>
            <a:ext cx="320040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Delay-risk and ETA prediction once tracking data exists</a:t>
            </a:r>
            <a:endParaRPr lang="en-US" sz="1400" dirty="0"/>
          </a:p>
          <a:p>
            <a:pPr marL="342900" indent="-342900">
              <a:spcAft>
                <a:spcPts val="800"/>
              </a:spcAft>
              <a:buSzPct val="100000"/>
              <a:buChar char="•"/>
            </a:pPr>
            <a:r>
              <a:rPr lang="en-US" sz="1400" dirty="0">
                <a:solidFill>
                  <a:schemeClr val="tx1"/>
                </a:solidFill>
              </a:rPr>
              <a:t>Product-level demand forecasting with seasonality and promotions</a:t>
            </a:r>
            <a:endParaRPr lang="en-US" sz="1400" dirty="0"/>
          </a:p>
          <a:p>
            <a:pPr marL="342900" indent="-342900">
              <a:spcAft>
                <a:spcPts val="800"/>
              </a:spcAft>
              <a:buSzPct val="100000"/>
              <a:buChar char="•"/>
            </a:pPr>
            <a:r>
              <a:rPr lang="en-US" sz="1400" dirty="0">
                <a:solidFill>
                  <a:schemeClr val="tx1"/>
                </a:solidFill>
              </a:rPr>
              <a:t>Supplier reliability scorecards and customer lifetime value models</a:t>
            </a:r>
            <a:endParaRPr lang="en-US" sz="1400" dirty="0"/>
          </a:p>
          <a:p>
            <a:pPr marL="342900" indent="-342900">
              <a:spcAft>
                <a:spcPts val="800"/>
              </a:spcAft>
              <a:buSzPct val="100000"/>
              <a:buChar char="•"/>
            </a:pPr>
            <a:r>
              <a:rPr lang="en-US" sz="1400" dirty="0">
                <a:solidFill>
                  <a:schemeClr val="tx1"/>
                </a:solidFill>
              </a:rPr>
              <a:t>Warehouse allocation and route optimisation; an ops assistant for plain-language questions</a:t>
            </a:r>
            <a:endParaRPr lang="en-US" sz="1400" dirty="0"/>
          </a:p>
        </p:txBody>
      </p:sp>
      <p:sp>
        <p:nvSpPr>
          <p:cNvPr id="15" name="Text 13"/>
          <p:cNvSpPr txBox="1"/>
          <p:nvPr/>
        </p:nvSpPr>
        <p:spPr>
          <a:xfrm>
            <a:off x="548640" y="6080760"/>
            <a:ext cx="11064240" cy="274320"/>
          </a:xfrm>
          <a:prstGeom prst="rect">
            <a:avLst/>
          </a:prstGeom>
          <a:noFill/>
          <a:ln/>
        </p:spPr>
        <p:txBody>
          <a:bodyPr wrap="square" lIns="0" tIns="0" rIns="0" bIns="0" rtlCol="0" anchor="t"/>
          <a:lstStyle/>
          <a:p>
            <a:pPr marL="0" indent="0">
              <a:buNone/>
            </a:pPr>
            <a:r>
              <a:rPr lang="en-US" sz="1400" b="1" dirty="0">
                <a:solidFill>
                  <a:schemeClr val="tx1"/>
                </a:solidFill>
              </a:rPr>
              <a:t>Models come after the data that could make them work.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t"/>
          <a:lstStyle/>
          <a:p>
            <a:pPr marL="0" indent="0" algn="l">
              <a:buNone/>
            </a:pPr>
            <a:r>
              <a:rPr lang="en-US" sz="2800" b="1" dirty="0">
                <a:solidFill>
                  <a:schemeClr val="accent2"/>
                </a:solidFill>
                <a:latin typeface="Cambria" pitchFamily="34" charset="0"/>
                <a:ea typeface="Cambria" pitchFamily="34" charset="-122"/>
                <a:cs typeface="Cambria" pitchFamily="34" charset="-120"/>
              </a:rPr>
              <a:t>The prototype app shows its own reliability warning</a:t>
            </a:r>
            <a:endParaRPr lang="en-US" sz="2800" dirty="0">
              <a:solidFill>
                <a:schemeClr val="accent2"/>
              </a:solidFill>
            </a:endParaRPr>
          </a:p>
        </p:txBody>
      </p:sp>
      <p:pic>
        <p:nvPicPr>
          <p:cNvPr id="3" name="App screenshot delay tab" descr="App screenshot delay tab"/>
          <p:cNvPicPr>
            <a:picLocks noChangeAspect="1"/>
          </p:cNvPicPr>
          <p:nvPr/>
        </p:nvPicPr>
        <p:blipFill>
          <a:blip r:embed="rId3"/>
          <a:stretch>
            <a:fillRect/>
          </a:stretch>
        </p:blipFill>
        <p:spPr>
          <a:xfrm>
            <a:off x="548640" y="1466117"/>
            <a:ext cx="3749040" cy="2919925"/>
          </a:xfrm>
          <a:prstGeom prst="rect">
            <a:avLst/>
          </a:prstGeom>
        </p:spPr>
      </p:pic>
      <p:pic>
        <p:nvPicPr>
          <p:cNvPr id="4" name="App screenshot customer tab" descr="App screenshot customer tab"/>
          <p:cNvPicPr>
            <a:picLocks noChangeAspect="1"/>
          </p:cNvPicPr>
          <p:nvPr/>
        </p:nvPicPr>
        <p:blipFill>
          <a:blip r:embed="rId4"/>
          <a:stretch>
            <a:fillRect/>
          </a:stretch>
        </p:blipFill>
        <p:spPr>
          <a:xfrm>
            <a:off x="4499885" y="1463040"/>
            <a:ext cx="3710390" cy="2919925"/>
          </a:xfrm>
          <a:prstGeom prst="rect">
            <a:avLst/>
          </a:prstGeom>
        </p:spPr>
      </p:pic>
      <p:sp>
        <p:nvSpPr>
          <p:cNvPr id="5" name="Text 1"/>
          <p:cNvSpPr txBox="1"/>
          <p:nvPr/>
        </p:nvSpPr>
        <p:spPr>
          <a:xfrm>
            <a:off x="8503920" y="1554480"/>
            <a:ext cx="310896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Streamlit app with four tabs, one per problem.</a:t>
            </a:r>
            <a:endParaRPr lang="en-US" sz="1400" dirty="0"/>
          </a:p>
          <a:p>
            <a:pPr marL="342900" indent="-342900">
              <a:spcAft>
                <a:spcPts val="800"/>
              </a:spcAft>
              <a:buSzPct val="100000"/>
              <a:buChar char="•"/>
            </a:pPr>
            <a:r>
              <a:rPr lang="en-US" sz="1400" dirty="0">
                <a:solidFill>
                  <a:schemeClr val="tx1"/>
                </a:solidFill>
              </a:rPr>
              <a:t>Each tab shows a banner with the model's real test result against its baseline.</a:t>
            </a:r>
            <a:endParaRPr lang="en-US" sz="1400" dirty="0"/>
          </a:p>
          <a:p>
            <a:pPr marL="342900" indent="-342900">
              <a:spcAft>
                <a:spcPts val="800"/>
              </a:spcAft>
              <a:buSzPct val="100000"/>
              <a:buChar char="•"/>
            </a:pPr>
            <a:r>
              <a:rPr lang="en-US" sz="1400" dirty="0">
                <a:solidFill>
                  <a:schemeClr val="tx1"/>
                </a:solidFill>
              </a:rPr>
              <a:t>Run it with: streamlit run App/app.py</a:t>
            </a:r>
            <a:endParaRPr lang="en-US" sz="1400" dirty="0"/>
          </a:p>
          <a:p>
            <a:pPr marL="342900" indent="-342900">
              <a:spcAft>
                <a:spcPts val="800"/>
              </a:spcAft>
              <a:buSzPct val="100000"/>
              <a:buChar char="•"/>
            </a:pPr>
            <a:r>
              <a:rPr lang="en-US" sz="1400" dirty="0">
                <a:solidFill>
                  <a:schemeClr val="tx1"/>
                </a:solidFill>
              </a:rPr>
              <a:t>Treat it as a prototype for exploration, not for decisions.</a:t>
            </a:r>
            <a:endParaRPr lang="en-US" sz="1400" dirty="0"/>
          </a:p>
        </p:txBody>
      </p:sp>
      <p:sp>
        <p:nvSpPr>
          <p:cNvPr id="6" name="App note card"/>
          <p:cNvSpPr/>
          <p:nvPr/>
        </p:nvSpPr>
        <p:spPr>
          <a:xfrm>
            <a:off x="548640" y="4754880"/>
            <a:ext cx="11064240" cy="1280160"/>
          </a:xfrm>
          <a:prstGeom prst="rect">
            <a:avLst/>
          </a:prstGeom>
          <a:solidFill>
            <a:schemeClr val="bg2"/>
          </a:solidFill>
          <a:ln w="6350">
            <a:solidFill>
              <a:schemeClr val="bg2"/>
            </a:solidFill>
            <a:prstDash val="solid"/>
          </a:ln>
        </p:spPr>
      </p:sp>
      <p:sp>
        <p:nvSpPr>
          <p:cNvPr id="7" name="Text 3"/>
          <p:cNvSpPr txBox="1"/>
          <p:nvPr/>
        </p:nvSpPr>
        <p:spPr>
          <a:xfrm>
            <a:off x="777240" y="4937760"/>
            <a:ext cx="10607040" cy="914400"/>
          </a:xfrm>
          <a:prstGeom prst="rect">
            <a:avLst/>
          </a:prstGeom>
          <a:noFill/>
          <a:ln/>
        </p:spPr>
        <p:txBody>
          <a:bodyPr wrap="square" lIns="0" tIns="0" rIns="0" bIns="0" rtlCol="0" anchor="t"/>
          <a:lstStyle/>
          <a:p>
            <a:pPr marL="0" indent="0">
              <a:buNone/>
            </a:pPr>
            <a:r>
              <a:rPr lang="en-US" sz="1600" dirty="0">
                <a:solidFill>
                  <a:schemeClr val="tx1"/>
                </a:solidFill>
              </a:rPr>
              <a:t>Models are saved in Models/Best_Model.pkl as four bundles (pipeline, features and, for delay, the 0.37 threshold). Deploying this app into operations is deliberately not recommended until better data lifts performance above the baselines.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SwiftLog">
  <a:themeElements>
    <a:clrScheme name="SwiftLog">
      <a:dk1>
        <a:srgbClr val="0B1F33"/>
      </a:dk1>
      <a:lt1>
        <a:srgbClr val="FFFFFF"/>
      </a:lt1>
      <a:dk2>
        <a:srgbClr val="12263A"/>
      </a:dk2>
      <a:lt2>
        <a:srgbClr val="F3F5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wiftLo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2164</Words>
  <Application>Microsoft Office PowerPoint</Application>
  <PresentationFormat>Widescreen</PresentationFormat>
  <Paragraphs>197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SwiftLog</vt:lpstr>
      <vt:lpstr>PowerPoint Presentation</vt:lpstr>
      <vt:lpstr>SwiftLog loses time and money before any model is involved</vt:lpstr>
      <vt:lpstr>We set out to predict four logistics outcomes</vt:lpstr>
      <vt:lpstr>How we built and tested the models</vt:lpstr>
      <vt:lpstr>EDA: no feature is strongly tied to any target</vt:lpstr>
      <vt:lpstr>On unseen data, no model beats its baseline</vt:lpstr>
      <vt:lpstr>Three algorithms per problem, no clear winner</vt:lpstr>
      <vt:lpstr>Is it just chance? </vt:lpstr>
      <vt:lpstr>What the models rely on is small and unstable</vt:lpstr>
      <vt:lpstr>What the data shows without any model</vt:lpstr>
      <vt:lpstr>Recommendations 1 to 6: fix the operation</vt:lpstr>
      <vt:lpstr>Recommendations 7 to 12: fix the data and the AI</vt:lpstr>
      <vt:lpstr>Future AI roadmap: earn the right to predict</vt:lpstr>
      <vt:lpstr>The prototype app shows its own reliability warning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SwiftLog Logistics Analytics and AI Transformation</dc:title>
  <dc:subject>PptxGenJS Presentation</dc:subject>
  <dc:creator>Nadine</dc:creator>
  <cp:lastModifiedBy>Nadine Sithole</cp:lastModifiedBy>
  <cp:revision>2</cp:revision>
  <dcterms:created xsi:type="dcterms:W3CDTF">2026-10-17T02:03:49Z</dcterms:created>
  <dcterms:modified xsi:type="dcterms:W3CDTF">2026-10-17T05:43:59Z</dcterms:modified>
</cp:coreProperties>
</file>